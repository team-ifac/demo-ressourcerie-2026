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E8883-CF8E-2746-A31C-E349E909C1C7}" v="11" dt="2026-02-09T17:00:24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20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rad LAFKI" userId="dfa4d173-53d8-4360-a1b9-ffb24f3fe85a" providerId="ADAL" clId="{35CC046D-1F76-53F2-AE37-4F4D4D6BB759}"/>
    <pc:docChg chg="undo custSel modSld">
      <pc:chgData name="Mourad LAFKI" userId="dfa4d173-53d8-4360-a1b9-ffb24f3fe85a" providerId="ADAL" clId="{35CC046D-1F76-53F2-AE37-4F4D4D6BB759}" dt="2026-02-09T17:27:57.833" v="87" actId="1076"/>
      <pc:docMkLst>
        <pc:docMk/>
      </pc:docMkLst>
      <pc:sldChg chg="delSp modSp mod">
        <pc:chgData name="Mourad LAFKI" userId="dfa4d173-53d8-4360-a1b9-ffb24f3fe85a" providerId="ADAL" clId="{35CC046D-1F76-53F2-AE37-4F4D4D6BB759}" dt="2026-02-09T17:00:25.310" v="47" actId="20577"/>
        <pc:sldMkLst>
          <pc:docMk/>
          <pc:sldMk cId="0" sldId="258"/>
        </pc:sldMkLst>
        <pc:spChg chg="del mod">
          <ac:chgData name="Mourad LAFKI" userId="dfa4d173-53d8-4360-a1b9-ffb24f3fe85a" providerId="ADAL" clId="{35CC046D-1F76-53F2-AE37-4F4D4D6BB759}" dt="2026-02-09T16:27:39.664" v="1" actId="478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6:28:41.136" v="13" actId="6549"/>
          <ac:spMkLst>
            <pc:docMk/>
            <pc:sldMk cId="0" sldId="258"/>
            <ac:spMk id="16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6:28:26.482" v="5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6:28:34.792" v="9" actId="478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6:59:56.261" v="37" actId="20577"/>
          <ac:spMkLst>
            <pc:docMk/>
            <pc:sldMk cId="0" sldId="258"/>
            <ac:spMk id="19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6:59:47.393" v="32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6:59:51.389" v="33" actId="478"/>
          <ac:spMkLst>
            <pc:docMk/>
            <pc:sldMk cId="0" sldId="258"/>
            <ac:spMk id="21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6:27:39.664" v="1" actId="478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6:29:10.226" v="21" actId="20577"/>
          <ac:spMkLst>
            <pc:docMk/>
            <pc:sldMk cId="0" sldId="258"/>
            <ac:spMk id="26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6:28:47.275" v="14" actId="478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6:29:06.055" v="18" actId="478"/>
          <ac:spMkLst>
            <pc:docMk/>
            <pc:sldMk cId="0" sldId="258"/>
            <ac:spMk id="28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00:08.295" v="41" actId="20577"/>
          <ac:spMkLst>
            <pc:docMk/>
            <pc:sldMk cId="0" sldId="258"/>
            <ac:spMk id="29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00:03.051" v="38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6:27:41.331" v="2" actId="478"/>
          <ac:spMkLst>
            <pc:docMk/>
            <pc:sldMk cId="0" sldId="258"/>
            <ac:spMk id="32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6:29:36.291" v="29" actId="20577"/>
          <ac:spMkLst>
            <pc:docMk/>
            <pc:sldMk cId="0" sldId="258"/>
            <ac:spMk id="34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6:29:16.842" v="22" actId="478"/>
          <ac:spMkLst>
            <pc:docMk/>
            <pc:sldMk cId="0" sldId="258"/>
            <ac:spMk id="35" creationId="{00000000-0000-0000-0000-000000000000}"/>
          </ac:spMkLst>
        </pc:spChg>
        <pc:spChg chg="del mod">
          <ac:chgData name="Mourad LAFKI" userId="dfa4d173-53d8-4360-a1b9-ffb24f3fe85a" providerId="ADAL" clId="{35CC046D-1F76-53F2-AE37-4F4D4D6BB759}" dt="2026-02-09T16:29:28.566" v="26" actId="478"/>
          <ac:spMkLst>
            <pc:docMk/>
            <pc:sldMk cId="0" sldId="258"/>
            <ac:spMk id="36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00:25.310" v="47" actId="20577"/>
          <ac:spMkLst>
            <pc:docMk/>
            <pc:sldMk cId="0" sldId="258"/>
            <ac:spMk id="37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00:13.716" v="42" actId="478"/>
          <ac:spMkLst>
            <pc:docMk/>
            <pc:sldMk cId="0" sldId="258"/>
            <ac:spMk id="38" creationId="{00000000-0000-0000-0000-000000000000}"/>
          </ac:spMkLst>
        </pc:spChg>
        <pc:spChg chg="del">
          <ac:chgData name="Mourad LAFKI" userId="dfa4d173-53d8-4360-a1b9-ffb24f3fe85a" providerId="ADAL" clId="{35CC046D-1F76-53F2-AE37-4F4D4D6BB759}" dt="2026-02-09T17:00:21.971" v="45" actId="478"/>
          <ac:spMkLst>
            <pc:docMk/>
            <pc:sldMk cId="0" sldId="258"/>
            <ac:spMk id="39" creationId="{00000000-0000-0000-0000-000000000000}"/>
          </ac:spMkLst>
        </pc:spChg>
        <pc:picChg chg="del mod">
          <ac:chgData name="Mourad LAFKI" userId="dfa4d173-53d8-4360-a1b9-ffb24f3fe85a" providerId="ADAL" clId="{35CC046D-1F76-53F2-AE37-4F4D4D6BB759}" dt="2026-02-09T16:27:45.116" v="4" actId="478"/>
          <ac:picMkLst>
            <pc:docMk/>
            <pc:sldMk cId="0" sldId="258"/>
            <ac:picMk id="2" creationId="{00000000-0000-0000-0000-000000000000}"/>
          </ac:picMkLst>
        </pc:picChg>
      </pc:sldChg>
      <pc:sldChg chg="addSp delSp modSp mod">
        <pc:chgData name="Mourad LAFKI" userId="dfa4d173-53d8-4360-a1b9-ffb24f3fe85a" providerId="ADAL" clId="{35CC046D-1F76-53F2-AE37-4F4D4D6BB759}" dt="2026-02-09T17:27:57.833" v="87" actId="1076"/>
        <pc:sldMkLst>
          <pc:docMk/>
          <pc:sldMk cId="0" sldId="260"/>
        </pc:sldMkLst>
        <pc:spChg chg="add del mod">
          <ac:chgData name="Mourad LAFKI" userId="dfa4d173-53d8-4360-a1b9-ffb24f3fe85a" providerId="ADAL" clId="{35CC046D-1F76-53F2-AE37-4F4D4D6BB759}" dt="2026-02-09T17:20:11.290" v="83" actId="1076"/>
          <ac:spMkLst>
            <pc:docMk/>
            <pc:sldMk cId="0" sldId="260"/>
            <ac:spMk id="6" creationId="{00000000-0000-0000-0000-000000000000}"/>
          </ac:spMkLst>
        </pc:spChg>
        <pc:spChg chg="add del mod">
          <ac:chgData name="Mourad LAFKI" userId="dfa4d173-53d8-4360-a1b9-ffb24f3fe85a" providerId="ADAL" clId="{35CC046D-1F76-53F2-AE37-4F4D4D6BB759}" dt="2026-02-09T17:20:10.157" v="81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20:09.623" v="79" actId="207"/>
          <ac:spMkLst>
            <pc:docMk/>
            <pc:sldMk cId="0" sldId="260"/>
            <ac:spMk id="9" creationId="{00000000-0000-0000-0000-000000000000}"/>
          </ac:spMkLst>
        </pc:spChg>
        <pc:spChg chg="add del mod">
          <ac:chgData name="Mourad LAFKI" userId="dfa4d173-53d8-4360-a1b9-ffb24f3fe85a" providerId="ADAL" clId="{35CC046D-1F76-53F2-AE37-4F4D4D6BB759}" dt="2026-02-09T17:20:09.320" v="78" actId="1076"/>
          <ac:spMkLst>
            <pc:docMk/>
            <pc:sldMk cId="0" sldId="260"/>
            <ac:spMk id="10" creationId="{00000000-0000-0000-0000-000000000000}"/>
          </ac:spMkLst>
        </pc:spChg>
        <pc:spChg chg="add del mod">
          <ac:chgData name="Mourad LAFKI" userId="dfa4d173-53d8-4360-a1b9-ffb24f3fe85a" providerId="ADAL" clId="{35CC046D-1F76-53F2-AE37-4F4D4D6BB759}" dt="2026-02-09T17:20:07.885" v="75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20:06.012" v="69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20:22.967" v="85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20:18.453" v="84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27:57.833" v="87" actId="1076"/>
          <ac:spMkLst>
            <pc:docMk/>
            <pc:sldMk cId="0" sldId="260"/>
            <ac:spMk id="18" creationId="{00000000-0000-0000-0000-000000000000}"/>
          </ac:spMkLst>
        </pc:spChg>
        <pc:spChg chg="add del mod">
          <ac:chgData name="Mourad LAFKI" userId="dfa4d173-53d8-4360-a1b9-ffb24f3fe85a" providerId="ADAL" clId="{35CC046D-1F76-53F2-AE37-4F4D4D6BB759}" dt="2026-02-09T17:20:07.054" v="73" actId="1076"/>
          <ac:spMkLst>
            <pc:docMk/>
            <pc:sldMk cId="0" sldId="260"/>
            <ac:spMk id="19" creationId="{00000000-0000-0000-0000-000000000000}"/>
          </ac:spMkLst>
        </pc:spChg>
        <pc:spChg chg="add del mod">
          <ac:chgData name="Mourad LAFKI" userId="dfa4d173-53d8-4360-a1b9-ffb24f3fe85a" providerId="ADAL" clId="{35CC046D-1F76-53F2-AE37-4F4D4D6BB759}" dt="2026-02-09T17:20:08.314" v="76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Mourad LAFKI" userId="dfa4d173-53d8-4360-a1b9-ffb24f3fe85a" providerId="ADAL" clId="{35CC046D-1F76-53F2-AE37-4F4D4D6BB759}" dt="2026-02-09T17:20:29.184" v="86" actId="1076"/>
          <ac:spMkLst>
            <pc:docMk/>
            <pc:sldMk cId="0" sldId="260"/>
            <ac:spMk id="23" creationId="{00000000-0000-0000-0000-000000000000}"/>
          </ac:spMkLst>
        </pc:spChg>
        <pc:spChg chg="add del">
          <ac:chgData name="Mourad LAFKI" userId="dfa4d173-53d8-4360-a1b9-ffb24f3fe85a" providerId="ADAL" clId="{35CC046D-1F76-53F2-AE37-4F4D4D6BB759}" dt="2026-02-09T17:20:07.354" v="74" actId="478"/>
          <ac:spMkLst>
            <pc:docMk/>
            <pc:sldMk cId="0" sldId="260"/>
            <ac:spMk id="26" creationId="{00000000-0000-0000-0000-000000000000}"/>
          </ac:spMkLst>
        </pc:spChg>
        <pc:spChg chg="add del">
          <ac:chgData name="Mourad LAFKI" userId="dfa4d173-53d8-4360-a1b9-ffb24f3fe85a" providerId="ADAL" clId="{35CC046D-1F76-53F2-AE37-4F4D4D6BB759}" dt="2026-02-09T17:20:06.774" v="72" actId="478"/>
          <ac:spMkLst>
            <pc:docMk/>
            <pc:sldMk cId="0" sldId="260"/>
            <ac:spMk id="33" creationId="{00000000-0000-0000-0000-000000000000}"/>
          </ac:spMkLst>
        </pc:spChg>
        <pc:spChg chg="add del">
          <ac:chgData name="Mourad LAFKI" userId="dfa4d173-53d8-4360-a1b9-ffb24f3fe85a" providerId="ADAL" clId="{35CC046D-1F76-53F2-AE37-4F4D4D6BB759}" dt="2026-02-09T17:20:07.354" v="74" actId="478"/>
          <ac:spMkLst>
            <pc:docMk/>
            <pc:sldMk cId="0" sldId="260"/>
            <ac:spMk id="34" creationId="{00000000-0000-0000-0000-000000000000}"/>
          </ac:spMkLst>
        </pc:spChg>
        <pc:picChg chg="mod">
          <ac:chgData name="Mourad LAFKI" userId="dfa4d173-53d8-4360-a1b9-ffb24f3fe85a" providerId="ADAL" clId="{35CC046D-1F76-53F2-AE37-4F4D4D6BB759}" dt="2026-02-09T17:20:06.532" v="71" actId="1076"/>
          <ac:picMkLst>
            <pc:docMk/>
            <pc:sldMk cId="0" sldId="260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79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19049" y="1810857"/>
            <a:ext cx="390587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C5F7C"/>
                </a:solidFill>
              </a:rPr>
              <a:t>Fiche-Ressource :
Les 60-74 ans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472184" y="3240695"/>
            <a:ext cx="419963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A9FBD"/>
                </a:solidFill>
              </a:rPr>
              <a:t>Les "Jeunes Seniors" ou "Seniors Actifs"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2659819" y="4182666"/>
            <a:ext cx="38243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Date : 31 janvier 2026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659819" y="4520208"/>
            <a:ext cx="38243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</a:rPr>
              <a:t>Pour : Animateurs, formateurs et porteurs de projets Ifac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970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571500" y="1497062"/>
            <a:ext cx="800100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658341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C5F7C"/>
                </a:solidFill>
              </a:rPr>
              <a:t>Introduction : Une nouvelle vie à inventer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2097137"/>
            <a:ext cx="4389109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Cette tranche d'âge est celle de la </a:t>
            </a:r>
            <a:r>
              <a:rPr lang="en-US" sz="1193" b="1" dirty="0">
                <a:solidFill>
                  <a:srgbClr val="333333"/>
                </a:solidFill>
              </a:rPr>
              <a:t>transition majeure de la retraite</a:t>
            </a:r>
            <a:r>
              <a:rPr lang="en-US" sz="1269" dirty="0">
                <a:solidFill>
                  <a:srgbClr val="333333"/>
                </a:solidFill>
              </a:rPr>
              <a:t>. C'est une période charnière où tout est à réinventer : le rythme de vie, le statut social, les relations aux autres.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571500" y="3365822"/>
            <a:ext cx="4389109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Loin des clichés sur la "vieillesse", ces "jeunes seniors" sont souvent en </a:t>
            </a:r>
            <a:r>
              <a:rPr lang="en-US" sz="1193" b="1" dirty="0">
                <a:solidFill>
                  <a:srgbClr val="333333"/>
                </a:solidFill>
              </a:rPr>
              <a:t>bonne forme physique et intellectuelle</a:t>
            </a:r>
            <a:r>
              <a:rPr lang="en-US" sz="1269" dirty="0">
                <a:solidFill>
                  <a:srgbClr val="333333"/>
                </a:solidFill>
              </a:rPr>
              <a:t>, et porteurs de nombreux désirs d'engagement, de découverte et de transmission.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5246359" y="1925687"/>
            <a:ext cx="3326141" cy="2309217"/>
          </a:xfrm>
          <a:prstGeom prst="rect">
            <a:avLst/>
          </a:prstGeom>
          <a:solidFill>
            <a:srgbClr val="F0F8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246359" y="1925687"/>
            <a:ext cx="57150" cy="2309217"/>
          </a:xfrm>
          <a:prstGeom prst="rect">
            <a:avLst/>
          </a:prstGeom>
          <a:solidFill>
            <a:srgbClr val="5A9F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52104" y="2297162"/>
            <a:ext cx="294894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C5F7C"/>
                </a:solidFill>
              </a:rPr>
              <a:t>💡 Le défi de l'animateur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5452104" y="2727573"/>
            <a:ext cx="2948946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Accompagner cette transition en proposant des activités qui donnent du </a:t>
            </a:r>
            <a:r>
              <a:rPr lang="en-US" sz="1090" b="1" dirty="0">
                <a:solidFill>
                  <a:srgbClr val="F4A261"/>
                </a:solidFill>
              </a:rPr>
              <a:t>sens</a:t>
            </a:r>
            <a:r>
              <a:rPr lang="en-US" sz="1159" dirty="0">
                <a:solidFill>
                  <a:srgbClr val="555555"/>
                </a:solidFill>
              </a:rPr>
              <a:t> et permettent de retrouver une </a:t>
            </a:r>
            <a:r>
              <a:rPr lang="en-US" sz="1090" b="1" dirty="0">
                <a:solidFill>
                  <a:srgbClr val="F4A261"/>
                </a:solidFill>
              </a:rPr>
              <a:t>utilité sociale</a:t>
            </a:r>
            <a:r>
              <a:rPr lang="en-US" sz="1159" dirty="0">
                <a:solidFill>
                  <a:srgbClr val="555555"/>
                </a:solidFill>
              </a:rPr>
              <a:t>, sans tomber dans l'occupationnel.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Caractéristiques Générales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32197" y="1386055"/>
            <a:ext cx="1241924" cy="396478"/>
          </a:xfrm>
          <a:prstGeom prst="rect">
            <a:avLst/>
          </a:prstGeom>
          <a:solidFill>
            <a:srgbClr val="F0F8F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32197" y="1386055"/>
            <a:ext cx="1241924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Domaine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1674121" y="1386055"/>
            <a:ext cx="2483876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674121" y="1386055"/>
            <a:ext cx="2483876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Caractéristiques &amp; Capacités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4157997" y="1386055"/>
            <a:ext cx="2069902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157997" y="1386055"/>
            <a:ext cx="2069902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Limites &amp; Fragilités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6227899" y="1386055"/>
            <a:ext cx="2483904" cy="396478"/>
          </a:xfrm>
          <a:prstGeom prst="rect">
            <a:avLst/>
          </a:prstGeom>
          <a:solidFill>
            <a:srgbClr val="2C5F7C"/>
          </a:solidFill>
          <a:ln w="9144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227899" y="1386055"/>
            <a:ext cx="2483904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555555"/>
                </a:solidFill>
              </a:rPr>
              <a:t>Exemple Concret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32197" y="1775389"/>
            <a:ext cx="1241924" cy="122869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Physique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927724" y="1886117"/>
            <a:ext cx="1405834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Bonne </a:t>
            </a:r>
            <a:r>
              <a:rPr lang="en-US" sz="942" dirty="0" err="1">
                <a:solidFill>
                  <a:srgbClr val="333333"/>
                </a:solidFill>
              </a:rPr>
              <a:t>mobilité</a:t>
            </a:r>
            <a:r>
              <a:rPr lang="en-US" sz="942" dirty="0">
                <a:solidFill>
                  <a:srgbClr val="333333"/>
                </a:solidFill>
              </a:rPr>
              <a:t> Générale</a:t>
            </a:r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Endurance </a:t>
            </a:r>
            <a:r>
              <a:rPr lang="en-US" sz="942" dirty="0" err="1">
                <a:solidFill>
                  <a:srgbClr val="333333"/>
                </a:solidFill>
              </a:rPr>
              <a:t>préservée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Capacité</a:t>
            </a:r>
            <a:r>
              <a:rPr lang="en-US" sz="942" dirty="0">
                <a:solidFill>
                  <a:srgbClr val="333333"/>
                </a:solidFill>
              </a:rPr>
              <a:t> sportive </a:t>
            </a:r>
            <a:r>
              <a:rPr lang="en-US" sz="942" dirty="0" err="1">
                <a:solidFill>
                  <a:srgbClr val="333333"/>
                </a:solidFill>
              </a:rPr>
              <a:t>maintenue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411600" y="1886117"/>
            <a:ext cx="1705570" cy="52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Premières douleurs (</a:t>
            </a:r>
            <a:r>
              <a:rPr lang="en-US" sz="942" dirty="0" err="1">
                <a:solidFill>
                  <a:srgbClr val="333333"/>
                </a:solidFill>
              </a:rPr>
              <a:t>arthrose</a:t>
            </a:r>
            <a:r>
              <a:rPr lang="en-US" sz="942" dirty="0">
                <a:solidFill>
                  <a:srgbClr val="333333"/>
                </a:solidFill>
              </a:rPr>
              <a:t>)</a:t>
            </a: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Récupération</a:t>
            </a:r>
            <a:r>
              <a:rPr lang="en-US" sz="942" dirty="0">
                <a:solidFill>
                  <a:srgbClr val="333333"/>
                </a:solidFill>
              </a:rPr>
              <a:t> plus lente</a:t>
            </a:r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Début </a:t>
            </a:r>
            <a:r>
              <a:rPr lang="en-US" sz="942" dirty="0" err="1">
                <a:solidFill>
                  <a:srgbClr val="333333"/>
                </a:solidFill>
              </a:rPr>
              <a:t>sarcopénie</a:t>
            </a:r>
            <a:r>
              <a:rPr lang="en-US" sz="942" dirty="0">
                <a:solidFill>
                  <a:srgbClr val="333333"/>
                </a:solidFill>
              </a:rPr>
              <a:t> (</a:t>
            </a:r>
            <a:r>
              <a:rPr lang="en-US" sz="942" dirty="0" err="1">
                <a:solidFill>
                  <a:srgbClr val="333333"/>
                </a:solidFill>
              </a:rPr>
              <a:t>perte</a:t>
            </a:r>
            <a:r>
              <a:rPr lang="en-US" sz="942" dirty="0">
                <a:solidFill>
                  <a:srgbClr val="333333"/>
                </a:solidFill>
              </a:rPr>
              <a:t> muscle)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6227899" y="1775389"/>
            <a:ext cx="2483904" cy="122869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Un senior de 65 ans peut faire de longues randonnées, mais aura plus de courbatures le lendemain qu'à 40 ans.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432197" y="3004086"/>
            <a:ext cx="8279606" cy="86866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32197" y="3004086"/>
            <a:ext cx="1241924" cy="86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Cognitif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1927724" y="3114815"/>
            <a:ext cx="1197444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 err="1">
                <a:solidFill>
                  <a:srgbClr val="333333"/>
                </a:solidFill>
              </a:rPr>
              <a:t>Apprentissage</a:t>
            </a:r>
            <a:r>
              <a:rPr lang="en-US" sz="942" dirty="0">
                <a:solidFill>
                  <a:srgbClr val="333333"/>
                </a:solidFill>
              </a:rPr>
              <a:t> </a:t>
            </a:r>
            <a:r>
              <a:rPr lang="en-US" sz="942" dirty="0" err="1">
                <a:solidFill>
                  <a:srgbClr val="333333"/>
                </a:solidFill>
              </a:rPr>
              <a:t>maintenu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Richesse de </a:t>
            </a:r>
            <a:r>
              <a:rPr lang="en-US" sz="942" dirty="0" err="1">
                <a:solidFill>
                  <a:srgbClr val="333333"/>
                </a:solidFill>
              </a:rPr>
              <a:t>l'expérience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Sagesse </a:t>
            </a:r>
            <a:r>
              <a:rPr lang="en-US" sz="942" dirty="0" err="1">
                <a:solidFill>
                  <a:srgbClr val="333333"/>
                </a:solidFill>
              </a:rPr>
              <a:t>émotionnelle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4411600" y="3114815"/>
            <a:ext cx="1179810" cy="3460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Léger oubli (noms, RDV)</a:t>
            </a: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Difficulté</a:t>
            </a:r>
            <a:r>
              <a:rPr lang="en-US" sz="942" dirty="0">
                <a:solidFill>
                  <a:srgbClr val="333333"/>
                </a:solidFill>
              </a:rPr>
              <a:t> double tâche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6227899" y="3004086"/>
            <a:ext cx="2483904" cy="8686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Apprend à utiliser une tablette avec succès, mais a besoin de plus de temps et de répétitions qu'un ado.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432197" y="3872750"/>
            <a:ext cx="1241924" cy="10486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Psycho-social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1924683" y="3983478"/>
            <a:ext cx="1359346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Disponibilité temps/</a:t>
            </a:r>
            <a:r>
              <a:rPr lang="en-US" sz="942" dirty="0" err="1">
                <a:solidFill>
                  <a:srgbClr val="333333"/>
                </a:solidFill>
              </a:rPr>
              <a:t>énergie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Désir </a:t>
            </a:r>
            <a:r>
              <a:rPr lang="en-US" sz="942" dirty="0" err="1">
                <a:solidFill>
                  <a:srgbClr val="333333"/>
                </a:solidFill>
              </a:rPr>
              <a:t>d'engagement</a:t>
            </a:r>
            <a:endParaRPr lang="en-US" sz="942" dirty="0">
              <a:solidFill>
                <a:srgbClr val="333333"/>
              </a:solidFill>
            </a:endParaRPr>
          </a:p>
          <a:p>
            <a:pPr>
              <a:lnSpc>
                <a:spcPts val="1400"/>
              </a:lnSpc>
            </a:pPr>
            <a:r>
              <a:rPr lang="en-US" sz="942" dirty="0" err="1">
                <a:solidFill>
                  <a:srgbClr val="333333"/>
                </a:solidFill>
              </a:rPr>
              <a:t>Volonté</a:t>
            </a:r>
            <a:r>
              <a:rPr lang="en-US" sz="942" dirty="0">
                <a:solidFill>
                  <a:srgbClr val="333333"/>
                </a:solidFill>
              </a:rPr>
              <a:t> de </a:t>
            </a:r>
            <a:r>
              <a:rPr lang="en-US" sz="942" dirty="0" err="1">
                <a:solidFill>
                  <a:srgbClr val="333333"/>
                </a:solidFill>
              </a:rPr>
              <a:t>transmettre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4409619" y="3983478"/>
            <a:ext cx="1428276" cy="52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Perte statut social (travail)</a:t>
            </a:r>
            <a:br>
              <a:rPr lang="en-US" sz="942" dirty="0">
                <a:solidFill>
                  <a:srgbClr val="333333"/>
                </a:solidFill>
              </a:rPr>
            </a:br>
            <a:r>
              <a:rPr lang="en-US" sz="942" dirty="0">
                <a:solidFill>
                  <a:srgbClr val="333333"/>
                </a:solidFill>
              </a:rPr>
              <a:t>Syndrome "</a:t>
            </a:r>
            <a:r>
              <a:rPr lang="en-US" sz="942" dirty="0" err="1">
                <a:solidFill>
                  <a:srgbClr val="333333"/>
                </a:solidFill>
              </a:rPr>
              <a:t>nid</a:t>
            </a:r>
            <a:r>
              <a:rPr lang="en-US" sz="942" dirty="0">
                <a:solidFill>
                  <a:srgbClr val="333333"/>
                </a:solidFill>
              </a:rPr>
              <a:t> vide"</a:t>
            </a:r>
            <a:endParaRPr lang="en-US" sz="942" dirty="0"/>
          </a:p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Sentiment </a:t>
            </a:r>
            <a:r>
              <a:rPr lang="en-US" sz="942" dirty="0" err="1">
                <a:solidFill>
                  <a:srgbClr val="333333"/>
                </a:solidFill>
              </a:rPr>
              <a:t>d'inutilité</a:t>
            </a:r>
            <a:r>
              <a:rPr lang="en-US" sz="942" dirty="0">
                <a:solidFill>
                  <a:srgbClr val="333333"/>
                </a:solidFill>
              </a:rPr>
              <a:t> possible</a:t>
            </a:r>
            <a:endParaRPr lang="en-US" sz="942" dirty="0"/>
          </a:p>
        </p:txBody>
      </p:sp>
      <p:sp>
        <p:nvSpPr>
          <p:cNvPr id="40" name="Text 37"/>
          <p:cNvSpPr/>
          <p:nvPr/>
        </p:nvSpPr>
        <p:spPr>
          <a:xfrm>
            <a:off x="6226811" y="3872750"/>
            <a:ext cx="2484993" cy="104868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Un ancien cadre peut se sentir dévalorisé et chercher un nouveau rôle associatif pour se sentir utile.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Les Besoins Spécifiques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453921"/>
            <a:ext cx="4071938" cy="163047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453921"/>
            <a:ext cx="40719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493419" y="1453921"/>
            <a:ext cx="7144" cy="163047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28625" y="3077254"/>
            <a:ext cx="40719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28625" y="1453921"/>
            <a:ext cx="42863" cy="1630477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42925" y="1699487"/>
            <a:ext cx="314325" cy="3143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91" y="1785212"/>
            <a:ext cx="178594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2975" y="1739671"/>
            <a:ext cx="28102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Reconnaissance et Utilité Sociale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542925" y="2245091"/>
            <a:ext cx="38433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Ils veulent se sentir utiles : aider leurs proches, s'engager ou transmettre leurs savoirs.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4643438" y="1453921"/>
            <a:ext cx="4071938" cy="163047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643438" y="1453921"/>
            <a:ext cx="40719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8708231" y="1453921"/>
            <a:ext cx="7144" cy="163047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643438" y="3077254"/>
            <a:ext cx="40719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643438" y="1453921"/>
            <a:ext cx="42863" cy="1630477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4757738" y="1699487"/>
            <a:ext cx="314325" cy="3143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603" y="1785212"/>
            <a:ext cx="178594" cy="1428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57788" y="1739671"/>
            <a:ext cx="223641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Nouveaux Apprentissages</a:t>
            </a:r>
            <a:endParaRPr lang="en-US" sz="1193" dirty="0"/>
          </a:p>
        </p:txBody>
      </p:sp>
      <p:sp>
        <p:nvSpPr>
          <p:cNvPr id="23" name="Text 18"/>
          <p:cNvSpPr/>
          <p:nvPr/>
        </p:nvSpPr>
        <p:spPr>
          <a:xfrm>
            <a:off x="4757738" y="2245091"/>
            <a:ext cx="38433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La retraite est l'occasion d'apprendre : langue, instrument, informatique, etc.</a:t>
            </a:r>
            <a:endParaRPr lang="en-US" sz="942" dirty="0"/>
          </a:p>
        </p:txBody>
      </p:sp>
      <p:sp>
        <p:nvSpPr>
          <p:cNvPr id="24" name="Shape 19"/>
          <p:cNvSpPr/>
          <p:nvPr/>
        </p:nvSpPr>
        <p:spPr>
          <a:xfrm>
            <a:off x="428625" y="3227273"/>
            <a:ext cx="4071938" cy="163047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428625" y="3227273"/>
            <a:ext cx="40719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4493419" y="3227273"/>
            <a:ext cx="7144" cy="163047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428625" y="4850606"/>
            <a:ext cx="40719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428625" y="3227273"/>
            <a:ext cx="42863" cy="1630477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4"/>
          <p:cNvSpPr/>
          <p:nvPr/>
        </p:nvSpPr>
        <p:spPr>
          <a:xfrm>
            <a:off x="542925" y="3472839"/>
            <a:ext cx="314325" cy="3143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791" y="3558564"/>
            <a:ext cx="178594" cy="1428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42975" y="3513023"/>
            <a:ext cx="14669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Lien Social Choisi</a:t>
            </a:r>
            <a:endParaRPr lang="en-US" sz="1193" dirty="0"/>
          </a:p>
        </p:txBody>
      </p:sp>
      <p:sp>
        <p:nvSpPr>
          <p:cNvPr id="32" name="Text 26"/>
          <p:cNvSpPr/>
          <p:nvPr/>
        </p:nvSpPr>
        <p:spPr>
          <a:xfrm>
            <a:off x="542925" y="4018443"/>
            <a:ext cx="38433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Créer ou renforcer des liens amicaux fondés sur des centres d'intérêt communs.</a:t>
            </a:r>
            <a:endParaRPr lang="en-US" sz="942" dirty="0"/>
          </a:p>
        </p:txBody>
      </p:sp>
      <p:sp>
        <p:nvSpPr>
          <p:cNvPr id="33" name="Shape 27"/>
          <p:cNvSpPr/>
          <p:nvPr/>
        </p:nvSpPr>
        <p:spPr>
          <a:xfrm>
            <a:off x="4643438" y="3227273"/>
            <a:ext cx="4071938" cy="163047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4643438" y="3227273"/>
            <a:ext cx="40719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29"/>
          <p:cNvSpPr/>
          <p:nvPr/>
        </p:nvSpPr>
        <p:spPr>
          <a:xfrm>
            <a:off x="8708231" y="3227273"/>
            <a:ext cx="7144" cy="163047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4643438" y="4850606"/>
            <a:ext cx="407193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1"/>
          <p:cNvSpPr/>
          <p:nvPr/>
        </p:nvSpPr>
        <p:spPr>
          <a:xfrm>
            <a:off x="4643438" y="3227273"/>
            <a:ext cx="42863" cy="1630477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4757738" y="3472839"/>
            <a:ext cx="314325" cy="3143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533" y="3558564"/>
            <a:ext cx="160734" cy="142875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157788" y="3513023"/>
            <a:ext cx="210919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Prendre Soin de sa Santé</a:t>
            </a:r>
            <a:endParaRPr lang="en-US" sz="1193" dirty="0"/>
          </a:p>
        </p:txBody>
      </p:sp>
      <p:sp>
        <p:nvSpPr>
          <p:cNvPr id="41" name="Text 34"/>
          <p:cNvSpPr/>
          <p:nvPr/>
        </p:nvSpPr>
        <p:spPr>
          <a:xfrm>
            <a:off x="4757738" y="4018443"/>
            <a:ext cx="38433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Des activités de prévention : nutrition, activité physique adaptée, stimulation cognitive.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Le Rôle de l'Animateur : Que Mettre en Place ?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32197" y="1314617"/>
            <a:ext cx="1655899" cy="325041"/>
          </a:xfrm>
          <a:prstGeom prst="rect">
            <a:avLst/>
          </a:prstGeom>
          <a:solidFill>
            <a:srgbClr val="F0F8FC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32197" y="1314617"/>
            <a:ext cx="1655899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Objectif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2088096" y="1314617"/>
            <a:ext cx="3725800" cy="325041"/>
          </a:xfrm>
          <a:prstGeom prst="rect">
            <a:avLst/>
          </a:prstGeom>
          <a:solidFill>
            <a:srgbClr val="5A9FBD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088096" y="1314617"/>
            <a:ext cx="3725800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Actions et Activités Possibles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813896" y="1314617"/>
            <a:ext cx="2897907" cy="325041"/>
          </a:xfrm>
          <a:prstGeom prst="rect">
            <a:avLst/>
          </a:prstGeom>
          <a:solidFill>
            <a:srgbClr val="5A9FBD"/>
          </a:solidFill>
          <a:ln w="9144">
            <a:solidFill>
              <a:srgbClr val="5A9F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813896" y="1314617"/>
            <a:ext cx="2897907" cy="32504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i="1" dirty="0">
                <a:solidFill>
                  <a:srgbClr val="555555"/>
                </a:solidFill>
              </a:rPr>
              <a:t>Conseils pour l'Animateur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32197" y="1632514"/>
            <a:ext cx="1655899" cy="955811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32197" y="1632514"/>
            <a:ext cx="1655899" cy="95581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Valoriser les compétences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2305980" y="1709310"/>
            <a:ext cx="16258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Ateliers de transmission :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2308533" y="1856650"/>
            <a:ext cx="3284925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Bricolage, couture, cuisine, jardinage... (seniors formateurs).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305980" y="2112206"/>
            <a:ext cx="19326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Mentorat intergénérationnel :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303134" y="2271684"/>
            <a:ext cx="299406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Aide aux devoirs, orientation des jeunes.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6015568" y="1646014"/>
            <a:ext cx="2897907" cy="95581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Posture de "metteur en scène" : permettez à ceux qui savent de transmettre. Valorisez chaque compétence.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32197" y="2588326"/>
            <a:ext cx="8279606" cy="77579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32197" y="2588326"/>
            <a:ext cx="1655899" cy="775795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32197" y="2588326"/>
            <a:ext cx="1655899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Stimuler l'apprentissage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2305980" y="2665121"/>
            <a:ext cx="21651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Cours informatique/smartphone :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2312899" y="2796199"/>
            <a:ext cx="3276191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Objectifs concrets (photos, visio).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2305980" y="3068017"/>
            <a:ext cx="26823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Clubs de lecture, cafés-philo, conférences.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813896" y="2588326"/>
            <a:ext cx="2897907" cy="77579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Dédramatisez l'erreur. Utilisez des supports adaptés (gros caractères, rythme lent).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432197" y="3364120"/>
            <a:ext cx="1655899" cy="595778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32197" y="3364120"/>
            <a:ext cx="1655899" cy="5957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Créer du lien social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2305980" y="3440916"/>
            <a:ext cx="11295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Projets collectifs :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3435502" y="3440916"/>
            <a:ext cx="19310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Jardin partagé, théâtre, voyage.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2305980" y="3663795"/>
            <a:ext cx="12274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Sorties culturelles :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3533477" y="3663795"/>
            <a:ext cx="11144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Musées, concerts.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5813896" y="3364120"/>
            <a:ext cx="2897907" cy="5957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Soyez un facilitateur (brise-glace). Laissez le groupe prendre des initiatives.</a:t>
            </a:r>
            <a:endParaRPr lang="en-US" sz="942" dirty="0"/>
          </a:p>
        </p:txBody>
      </p:sp>
      <p:sp>
        <p:nvSpPr>
          <p:cNvPr id="33" name="Shape 30"/>
          <p:cNvSpPr/>
          <p:nvPr/>
        </p:nvSpPr>
        <p:spPr>
          <a:xfrm>
            <a:off x="432197" y="3959898"/>
            <a:ext cx="8279606" cy="59577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1"/>
          <p:cNvSpPr/>
          <p:nvPr/>
        </p:nvSpPr>
        <p:spPr>
          <a:xfrm>
            <a:off x="432197" y="3959898"/>
            <a:ext cx="1655899" cy="595778"/>
          </a:xfrm>
          <a:prstGeom prst="rect">
            <a:avLst/>
          </a:prstGeom>
          <a:solidFill>
            <a:srgbClr val="F0F8FC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432197" y="3959898"/>
            <a:ext cx="1655899" cy="5957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Prévenir et entretenir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2303134" y="4036693"/>
            <a:ext cx="13094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Activités physiques :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3612561" y="4036693"/>
            <a:ext cx="16869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Rando, yoga, tai-chi, danse.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2303134" y="4259573"/>
            <a:ext cx="13041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C5F7C"/>
                </a:solidFill>
              </a:rPr>
              <a:t>Ateliers prévention :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3607287" y="4259573"/>
            <a:ext cx="18161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Nutrition, sommeil, mémoire.</a:t>
            </a:r>
            <a:endParaRPr lang="en-US" sz="942" dirty="0"/>
          </a:p>
        </p:txBody>
      </p:sp>
      <p:sp>
        <p:nvSpPr>
          <p:cNvPr id="40" name="Text 37"/>
          <p:cNvSpPr/>
          <p:nvPr/>
        </p:nvSpPr>
        <p:spPr>
          <a:xfrm>
            <a:off x="5812668" y="3959898"/>
            <a:ext cx="2899135" cy="5957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Adaptez l'intensité (options). Faites intervenir des professionnels (diététicien, sport adapté).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9109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28625" y="1168171"/>
            <a:ext cx="8286750" cy="28575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486752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2C5F7C"/>
                </a:solidFill>
              </a:rPr>
              <a:t>Erreurs à Éviter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428625" y="1453921"/>
            <a:ext cx="4057650" cy="126550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28625" y="1453921"/>
            <a:ext cx="42863" cy="12655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1756637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8688" y="1753958"/>
            <a:ext cx="13417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L'infantilisation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57213" y="2230803"/>
            <a:ext cx="38004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Parler comme à des enfants ou employer un ton condescendant. Respecter leur vécu et leur autonomie.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657725" y="1453921"/>
            <a:ext cx="4057650" cy="126550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4657725" y="1453921"/>
            <a:ext cx="42863" cy="12655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56637"/>
            <a:ext cx="28575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7788" y="1753958"/>
            <a:ext cx="1570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La sur-stimulation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4786313" y="2230803"/>
            <a:ext cx="38004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Proposer des activités trop rapides, complexes ou bruyantes qui génèrent stress ou échec.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28625" y="2890875"/>
            <a:ext cx="4057650" cy="126550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428625" y="2890875"/>
            <a:ext cx="42863" cy="12655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3" y="3193591"/>
            <a:ext cx="28575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688" y="3190912"/>
            <a:ext cx="10019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L'assistanat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557213" y="3667758"/>
            <a:ext cx="38004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Faire à leur place plutôt que de les accompagner : l'objectif est de préserver leur autonomie.</a:t>
            </a:r>
            <a:endParaRPr lang="en-US" sz="942" dirty="0"/>
          </a:p>
        </p:txBody>
      </p:sp>
      <p:sp>
        <p:nvSpPr>
          <p:cNvPr id="21" name="Shape 15"/>
          <p:cNvSpPr/>
          <p:nvPr/>
        </p:nvSpPr>
        <p:spPr>
          <a:xfrm>
            <a:off x="4657725" y="2890875"/>
            <a:ext cx="4057650" cy="126550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4657725" y="2890875"/>
            <a:ext cx="42863" cy="12655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193591"/>
            <a:ext cx="28575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57788" y="3190912"/>
            <a:ext cx="14856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C5F7C"/>
                </a:solidFill>
              </a:rPr>
              <a:t>La généralisation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4786313" y="3667758"/>
            <a:ext cx="38004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Prétendre qu'ils ont tous les mêmes envies ou capacités. Tenir compte de la diversité des parcours.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610</Words>
  <Application>Microsoft Macintosh PowerPoint</Application>
  <PresentationFormat>Affichage à l'écran (16:9)</PresentationFormat>
  <Paragraphs>87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Mourad LAFKI</cp:lastModifiedBy>
  <cp:revision>1</cp:revision>
  <dcterms:created xsi:type="dcterms:W3CDTF">2026-02-09T15:55:10Z</dcterms:created>
  <dcterms:modified xsi:type="dcterms:W3CDTF">2026-02-09T17:28:07Z</dcterms:modified>
</cp:coreProperties>
</file>