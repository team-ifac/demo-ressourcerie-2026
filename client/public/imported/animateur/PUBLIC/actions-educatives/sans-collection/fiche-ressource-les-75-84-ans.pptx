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5C1A49-AA5D-174F-86A3-16D837E638AF}" v="10" dt="2026-02-09T17:52:17.2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52"/>
    <p:restoredTop sz="94610"/>
  </p:normalViewPr>
  <p:slideViewPr>
    <p:cSldViewPr snapToGrid="0" snapToObjects="1">
      <p:cViewPr varScale="1">
        <p:scale>
          <a:sx n="195" d="100"/>
          <a:sy n="195" d="100"/>
        </p:scale>
        <p:origin x="200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urad LAFKI" userId="dfa4d173-53d8-4360-a1b9-ffb24f3fe85a" providerId="ADAL" clId="{35CC046D-1F76-53F2-AE37-4F4D4D6BB759}"/>
    <pc:docChg chg="undo custSel modSld">
      <pc:chgData name="Mourad LAFKI" userId="dfa4d173-53d8-4360-a1b9-ffb24f3fe85a" providerId="ADAL" clId="{35CC046D-1F76-53F2-AE37-4F4D4D6BB759}" dt="2026-02-09T18:02:12.188" v="40" actId="1076"/>
      <pc:docMkLst>
        <pc:docMk/>
      </pc:docMkLst>
      <pc:sldChg chg="delSp modSp mod">
        <pc:chgData name="Mourad LAFKI" userId="dfa4d173-53d8-4360-a1b9-ffb24f3fe85a" providerId="ADAL" clId="{35CC046D-1F76-53F2-AE37-4F4D4D6BB759}" dt="2026-02-09T17:47:29.492" v="2"/>
        <pc:sldMkLst>
          <pc:docMk/>
          <pc:sldMk cId="0" sldId="257"/>
        </pc:sldMkLst>
        <pc:spChg chg="mod">
          <ac:chgData name="Mourad LAFKI" userId="dfa4d173-53d8-4360-a1b9-ffb24f3fe85a" providerId="ADAL" clId="{35CC046D-1F76-53F2-AE37-4F4D4D6BB759}" dt="2026-02-09T17:47:29.492" v="2"/>
          <ac:spMkLst>
            <pc:docMk/>
            <pc:sldMk cId="0" sldId="257"/>
            <ac:spMk id="6" creationId="{00000000-0000-0000-0000-000000000000}"/>
          </ac:spMkLst>
        </pc:spChg>
        <pc:spChg chg="del">
          <ac:chgData name="Mourad LAFKI" userId="dfa4d173-53d8-4360-a1b9-ffb24f3fe85a" providerId="ADAL" clId="{35CC046D-1F76-53F2-AE37-4F4D4D6BB759}" dt="2026-02-09T17:47:25.966" v="0" actId="478"/>
          <ac:spMkLst>
            <pc:docMk/>
            <pc:sldMk cId="0" sldId="257"/>
            <ac:spMk id="7" creationId="{00000000-0000-0000-0000-000000000000}"/>
          </ac:spMkLst>
        </pc:spChg>
      </pc:sldChg>
      <pc:sldChg chg="delSp modSp mod">
        <pc:chgData name="Mourad LAFKI" userId="dfa4d173-53d8-4360-a1b9-ffb24f3fe85a" providerId="ADAL" clId="{35CC046D-1F76-53F2-AE37-4F4D4D6BB759}" dt="2026-02-09T17:52:18.386" v="34" actId="20577"/>
        <pc:sldMkLst>
          <pc:docMk/>
          <pc:sldMk cId="0" sldId="258"/>
        </pc:sldMkLst>
        <pc:spChg chg="mod">
          <ac:chgData name="Mourad LAFKI" userId="dfa4d173-53d8-4360-a1b9-ffb24f3fe85a" providerId="ADAL" clId="{35CC046D-1F76-53F2-AE37-4F4D4D6BB759}" dt="2026-02-09T17:51:07.964" v="6" actId="20577"/>
          <ac:spMkLst>
            <pc:docMk/>
            <pc:sldMk cId="0" sldId="258"/>
            <ac:spMk id="16" creationId="{00000000-0000-0000-0000-000000000000}"/>
          </ac:spMkLst>
        </pc:spChg>
        <pc:spChg chg="del">
          <ac:chgData name="Mourad LAFKI" userId="dfa4d173-53d8-4360-a1b9-ffb24f3fe85a" providerId="ADAL" clId="{35CC046D-1F76-53F2-AE37-4F4D4D6BB759}" dt="2026-02-09T17:51:04.060" v="3" actId="478"/>
          <ac:spMkLst>
            <pc:docMk/>
            <pc:sldMk cId="0" sldId="258"/>
            <ac:spMk id="17" creationId="{00000000-0000-0000-0000-000000000000}"/>
          </ac:spMkLst>
        </pc:spChg>
        <pc:spChg chg="mod">
          <ac:chgData name="Mourad LAFKI" userId="dfa4d173-53d8-4360-a1b9-ffb24f3fe85a" providerId="ADAL" clId="{35CC046D-1F76-53F2-AE37-4F4D4D6BB759}" dt="2026-02-09T17:51:44.334" v="22" actId="20577"/>
          <ac:spMkLst>
            <pc:docMk/>
            <pc:sldMk cId="0" sldId="258"/>
            <ac:spMk id="18" creationId="{00000000-0000-0000-0000-000000000000}"/>
          </ac:spMkLst>
        </pc:spChg>
        <pc:spChg chg="del">
          <ac:chgData name="Mourad LAFKI" userId="dfa4d173-53d8-4360-a1b9-ffb24f3fe85a" providerId="ADAL" clId="{35CC046D-1F76-53F2-AE37-4F4D4D6BB759}" dt="2026-02-09T17:51:31.219" v="15" actId="478"/>
          <ac:spMkLst>
            <pc:docMk/>
            <pc:sldMk cId="0" sldId="258"/>
            <ac:spMk id="19" creationId="{00000000-0000-0000-0000-000000000000}"/>
          </ac:spMkLst>
        </pc:spChg>
        <pc:spChg chg="del mod">
          <ac:chgData name="Mourad LAFKI" userId="dfa4d173-53d8-4360-a1b9-ffb24f3fe85a" providerId="ADAL" clId="{35CC046D-1F76-53F2-AE37-4F4D4D6BB759}" dt="2026-02-09T17:51:40.885" v="19" actId="478"/>
          <ac:spMkLst>
            <pc:docMk/>
            <pc:sldMk cId="0" sldId="258"/>
            <ac:spMk id="20" creationId="{00000000-0000-0000-0000-000000000000}"/>
          </ac:spMkLst>
        </pc:spChg>
        <pc:spChg chg="mod">
          <ac:chgData name="Mourad LAFKI" userId="dfa4d173-53d8-4360-a1b9-ffb24f3fe85a" providerId="ADAL" clId="{35CC046D-1F76-53F2-AE37-4F4D4D6BB759}" dt="2026-02-09T17:51:15.456" v="10" actId="20577"/>
          <ac:spMkLst>
            <pc:docMk/>
            <pc:sldMk cId="0" sldId="258"/>
            <ac:spMk id="25" creationId="{00000000-0000-0000-0000-000000000000}"/>
          </ac:spMkLst>
        </pc:spChg>
        <pc:spChg chg="del">
          <ac:chgData name="Mourad LAFKI" userId="dfa4d173-53d8-4360-a1b9-ffb24f3fe85a" providerId="ADAL" clId="{35CC046D-1F76-53F2-AE37-4F4D4D6BB759}" dt="2026-02-09T17:51:12.001" v="7" actId="478"/>
          <ac:spMkLst>
            <pc:docMk/>
            <pc:sldMk cId="0" sldId="258"/>
            <ac:spMk id="26" creationId="{00000000-0000-0000-0000-000000000000}"/>
          </ac:spMkLst>
        </pc:spChg>
        <pc:spChg chg="mod">
          <ac:chgData name="Mourad LAFKI" userId="dfa4d173-53d8-4360-a1b9-ffb24f3fe85a" providerId="ADAL" clId="{35CC046D-1F76-53F2-AE37-4F4D4D6BB759}" dt="2026-02-09T17:52:01.483" v="28" actId="20577"/>
          <ac:spMkLst>
            <pc:docMk/>
            <pc:sldMk cId="0" sldId="258"/>
            <ac:spMk id="27" creationId="{00000000-0000-0000-0000-000000000000}"/>
          </ac:spMkLst>
        </pc:spChg>
        <pc:spChg chg="del">
          <ac:chgData name="Mourad LAFKI" userId="dfa4d173-53d8-4360-a1b9-ffb24f3fe85a" providerId="ADAL" clId="{35CC046D-1F76-53F2-AE37-4F4D4D6BB759}" dt="2026-02-09T17:51:48.881" v="23" actId="478"/>
          <ac:spMkLst>
            <pc:docMk/>
            <pc:sldMk cId="0" sldId="258"/>
            <ac:spMk id="28" creationId="{00000000-0000-0000-0000-000000000000}"/>
          </ac:spMkLst>
        </pc:spChg>
        <pc:spChg chg="del mod">
          <ac:chgData name="Mourad LAFKI" userId="dfa4d173-53d8-4360-a1b9-ffb24f3fe85a" providerId="ADAL" clId="{35CC046D-1F76-53F2-AE37-4F4D4D6BB759}" dt="2026-02-09T17:51:56.986" v="25" actId="478"/>
          <ac:spMkLst>
            <pc:docMk/>
            <pc:sldMk cId="0" sldId="258"/>
            <ac:spMk id="29" creationId="{00000000-0000-0000-0000-000000000000}"/>
          </ac:spMkLst>
        </pc:spChg>
        <pc:spChg chg="mod">
          <ac:chgData name="Mourad LAFKI" userId="dfa4d173-53d8-4360-a1b9-ffb24f3fe85a" providerId="ADAL" clId="{35CC046D-1F76-53F2-AE37-4F4D4D6BB759}" dt="2026-02-09T17:51:24.377" v="14" actId="20577"/>
          <ac:spMkLst>
            <pc:docMk/>
            <pc:sldMk cId="0" sldId="258"/>
            <ac:spMk id="33" creationId="{00000000-0000-0000-0000-000000000000}"/>
          </ac:spMkLst>
        </pc:spChg>
        <pc:spChg chg="del">
          <ac:chgData name="Mourad LAFKI" userId="dfa4d173-53d8-4360-a1b9-ffb24f3fe85a" providerId="ADAL" clId="{35CC046D-1F76-53F2-AE37-4F4D4D6BB759}" dt="2026-02-09T17:51:20.863" v="11" actId="478"/>
          <ac:spMkLst>
            <pc:docMk/>
            <pc:sldMk cId="0" sldId="258"/>
            <ac:spMk id="34" creationId="{00000000-0000-0000-0000-000000000000}"/>
          </ac:spMkLst>
        </pc:spChg>
        <pc:spChg chg="mod">
          <ac:chgData name="Mourad LAFKI" userId="dfa4d173-53d8-4360-a1b9-ffb24f3fe85a" providerId="ADAL" clId="{35CC046D-1F76-53F2-AE37-4F4D4D6BB759}" dt="2026-02-09T17:52:18.386" v="34" actId="20577"/>
          <ac:spMkLst>
            <pc:docMk/>
            <pc:sldMk cId="0" sldId="258"/>
            <ac:spMk id="35" creationId="{00000000-0000-0000-0000-000000000000}"/>
          </ac:spMkLst>
        </pc:spChg>
        <pc:spChg chg="del">
          <ac:chgData name="Mourad LAFKI" userId="dfa4d173-53d8-4360-a1b9-ffb24f3fe85a" providerId="ADAL" clId="{35CC046D-1F76-53F2-AE37-4F4D4D6BB759}" dt="2026-02-09T17:52:05.919" v="29" actId="478"/>
          <ac:spMkLst>
            <pc:docMk/>
            <pc:sldMk cId="0" sldId="258"/>
            <ac:spMk id="36" creationId="{00000000-0000-0000-0000-000000000000}"/>
          </ac:spMkLst>
        </pc:spChg>
        <pc:spChg chg="del mod">
          <ac:chgData name="Mourad LAFKI" userId="dfa4d173-53d8-4360-a1b9-ffb24f3fe85a" providerId="ADAL" clId="{35CC046D-1F76-53F2-AE37-4F4D4D6BB759}" dt="2026-02-09T17:52:12.898" v="31" actId="478"/>
          <ac:spMkLst>
            <pc:docMk/>
            <pc:sldMk cId="0" sldId="258"/>
            <ac:spMk id="37" creationId="{00000000-0000-0000-0000-000000000000}"/>
          </ac:spMkLst>
        </pc:spChg>
      </pc:sldChg>
      <pc:sldChg chg="modSp mod">
        <pc:chgData name="Mourad LAFKI" userId="dfa4d173-53d8-4360-a1b9-ffb24f3fe85a" providerId="ADAL" clId="{35CC046D-1F76-53F2-AE37-4F4D4D6BB759}" dt="2026-02-09T18:02:12.188" v="40" actId="1076"/>
        <pc:sldMkLst>
          <pc:docMk/>
          <pc:sldMk cId="0" sldId="260"/>
        </pc:sldMkLst>
        <pc:spChg chg="mod">
          <ac:chgData name="Mourad LAFKI" userId="dfa4d173-53d8-4360-a1b9-ffb24f3fe85a" providerId="ADAL" clId="{35CC046D-1F76-53F2-AE37-4F4D4D6BB759}" dt="2026-02-09T18:01:22.081" v="35" actId="1076"/>
          <ac:spMkLst>
            <pc:docMk/>
            <pc:sldMk cId="0" sldId="260"/>
            <ac:spMk id="17" creationId="{00000000-0000-0000-0000-000000000000}"/>
          </ac:spMkLst>
        </pc:spChg>
        <pc:spChg chg="mod">
          <ac:chgData name="Mourad LAFKI" userId="dfa4d173-53d8-4360-a1b9-ffb24f3fe85a" providerId="ADAL" clId="{35CC046D-1F76-53F2-AE37-4F4D4D6BB759}" dt="2026-02-09T18:01:26.179" v="37" actId="1076"/>
          <ac:spMkLst>
            <pc:docMk/>
            <pc:sldMk cId="0" sldId="260"/>
            <ac:spMk id="19" creationId="{00000000-0000-0000-0000-000000000000}"/>
          </ac:spMkLst>
        </pc:spChg>
        <pc:spChg chg="mod">
          <ac:chgData name="Mourad LAFKI" userId="dfa4d173-53d8-4360-a1b9-ffb24f3fe85a" providerId="ADAL" clId="{35CC046D-1F76-53F2-AE37-4F4D4D6BB759}" dt="2026-02-09T18:01:32.693" v="38" actId="1076"/>
          <ac:spMkLst>
            <pc:docMk/>
            <pc:sldMk cId="0" sldId="260"/>
            <ac:spMk id="23" creationId="{00000000-0000-0000-0000-000000000000}"/>
          </ac:spMkLst>
        </pc:spChg>
        <pc:spChg chg="mod">
          <ac:chgData name="Mourad LAFKI" userId="dfa4d173-53d8-4360-a1b9-ffb24f3fe85a" providerId="ADAL" clId="{35CC046D-1F76-53F2-AE37-4F4D4D6BB759}" dt="2026-02-09T18:01:37.132" v="39" actId="1076"/>
          <ac:spMkLst>
            <pc:docMk/>
            <pc:sldMk cId="0" sldId="260"/>
            <ac:spMk id="30" creationId="{00000000-0000-0000-0000-000000000000}"/>
          </ac:spMkLst>
        </pc:spChg>
        <pc:picChg chg="mod">
          <ac:chgData name="Mourad LAFKI" userId="dfa4d173-53d8-4360-a1b9-ffb24f3fe85a" providerId="ADAL" clId="{35CC046D-1F76-53F2-AE37-4F4D4D6BB759}" dt="2026-02-09T18:02:12.188" v="40" actId="1076"/>
          <ac:picMkLst>
            <pc:docMk/>
            <pc:sldMk cId="0" sldId="260"/>
            <ac:picMk id="2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3805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619049" y="1810857"/>
            <a:ext cx="3905873" cy="1097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2C5F7C"/>
                </a:solidFill>
              </a:rPr>
              <a:t>Fiche-Ressource :
Les 75-84 ans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3424870" y="3240695"/>
            <a:ext cx="2294232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04" dirty="0">
                <a:solidFill>
                  <a:srgbClr val="5A9FBD"/>
                </a:solidFill>
              </a:rPr>
              <a:t>Les "Seniors Fragiles"</a:t>
            </a:r>
            <a:endParaRPr lang="en-US" sz="1704" dirty="0"/>
          </a:p>
        </p:txBody>
      </p:sp>
      <p:sp>
        <p:nvSpPr>
          <p:cNvPr id="5" name="Text 2"/>
          <p:cNvSpPr/>
          <p:nvPr/>
        </p:nvSpPr>
        <p:spPr>
          <a:xfrm>
            <a:off x="2659819" y="4182666"/>
            <a:ext cx="382433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666666"/>
                </a:solidFill>
              </a:rPr>
              <a:t>Date : 31 janvier 2026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2659819" y="4520208"/>
            <a:ext cx="382433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666666"/>
                </a:solidFill>
              </a:rPr>
              <a:t>Pour : Animateurs, formateurs et porteurs de projets Ifac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109701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571500" y="1497062"/>
            <a:ext cx="8001000" cy="28575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571500" y="658341"/>
            <a:ext cx="8001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2C5F7C"/>
                </a:solidFill>
              </a:rPr>
              <a:t>Introduction : L'âge de la vulnérabilité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571500" y="2097137"/>
            <a:ext cx="4389109" cy="1947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ts val="2200"/>
              </a:lnSpc>
              <a:buNone/>
            </a:pPr>
            <a:r>
              <a:rPr lang="en-US" sz="1269" dirty="0">
                <a:solidFill>
                  <a:srgbClr val="333333"/>
                </a:solidFill>
              </a:rPr>
              <a:t>Cette tranche d'âge est marquée par l'entrée dans la </a:t>
            </a:r>
            <a:r>
              <a:rPr lang="en-US" sz="1193" b="1" dirty="0">
                <a:solidFill>
                  <a:srgbClr val="333333"/>
                </a:solidFill>
              </a:rPr>
              <a:t>fragilité</a:t>
            </a:r>
            <a:r>
              <a:rPr lang="en-US" sz="1269" dirty="0">
                <a:solidFill>
                  <a:srgbClr val="333333"/>
                </a:solidFill>
              </a:rPr>
              <a:t>. Les polypathologies augmentent, la mobilité se réduit, et le risque de perte d'autonomie devient une réalité ou une </a:t>
            </a:r>
            <a:r>
              <a:rPr lang="en-US" sz="1269" dirty="0" err="1">
                <a:solidFill>
                  <a:srgbClr val="333333"/>
                </a:solidFill>
              </a:rPr>
              <a:t>crainte</a:t>
            </a:r>
            <a:r>
              <a:rPr lang="en-US" sz="1269" dirty="0">
                <a:solidFill>
                  <a:srgbClr val="333333"/>
                </a:solidFill>
              </a:rPr>
              <a:t>.</a:t>
            </a:r>
          </a:p>
          <a:p>
            <a:pPr algn="just">
              <a:lnSpc>
                <a:spcPts val="2200"/>
              </a:lnSpc>
            </a:pPr>
            <a:r>
              <a:rPr lang="en-US" sz="1269" dirty="0" err="1">
                <a:solidFill>
                  <a:srgbClr val="333333"/>
                </a:solidFill>
              </a:rPr>
              <a:t>C'est</a:t>
            </a:r>
            <a:r>
              <a:rPr lang="en-US" sz="1269" dirty="0">
                <a:solidFill>
                  <a:srgbClr val="333333"/>
                </a:solidFill>
              </a:rPr>
              <a:t> </a:t>
            </a:r>
            <a:r>
              <a:rPr lang="en-US" sz="1269" dirty="0" err="1">
                <a:solidFill>
                  <a:srgbClr val="333333"/>
                </a:solidFill>
              </a:rPr>
              <a:t>une</a:t>
            </a:r>
            <a:r>
              <a:rPr lang="en-US" sz="1269" dirty="0">
                <a:solidFill>
                  <a:srgbClr val="333333"/>
                </a:solidFill>
              </a:rPr>
              <a:t> </a:t>
            </a:r>
            <a:r>
              <a:rPr lang="en-US" sz="1269" dirty="0" err="1">
                <a:solidFill>
                  <a:srgbClr val="333333"/>
                </a:solidFill>
              </a:rPr>
              <a:t>période</a:t>
            </a:r>
            <a:r>
              <a:rPr lang="en-US" sz="1269" dirty="0">
                <a:solidFill>
                  <a:srgbClr val="333333"/>
                </a:solidFill>
              </a:rPr>
              <a:t> </a:t>
            </a:r>
            <a:r>
              <a:rPr lang="en-US" sz="1269" dirty="0" err="1">
                <a:solidFill>
                  <a:srgbClr val="333333"/>
                </a:solidFill>
              </a:rPr>
              <a:t>où</a:t>
            </a:r>
            <a:r>
              <a:rPr lang="en-US" sz="1269" dirty="0">
                <a:solidFill>
                  <a:srgbClr val="333333"/>
                </a:solidFill>
              </a:rPr>
              <a:t> le </a:t>
            </a:r>
            <a:r>
              <a:rPr lang="en-US" sz="1269" dirty="0" err="1">
                <a:solidFill>
                  <a:srgbClr val="333333"/>
                </a:solidFill>
              </a:rPr>
              <a:t>besoin</a:t>
            </a:r>
            <a:r>
              <a:rPr lang="en-US" sz="1269" dirty="0">
                <a:solidFill>
                  <a:srgbClr val="333333"/>
                </a:solidFill>
              </a:rPr>
              <a:t> de </a:t>
            </a:r>
            <a:r>
              <a:rPr lang="en-US" sz="1269" dirty="0" err="1">
                <a:solidFill>
                  <a:srgbClr val="333333"/>
                </a:solidFill>
              </a:rPr>
              <a:t>sécurité</a:t>
            </a:r>
            <a:r>
              <a:rPr lang="en-US" sz="1269" dirty="0">
                <a:solidFill>
                  <a:srgbClr val="333333"/>
                </a:solidFill>
              </a:rPr>
              <a:t> physique et affective </a:t>
            </a:r>
            <a:r>
              <a:rPr lang="en-US" sz="1269" dirty="0" err="1">
                <a:solidFill>
                  <a:srgbClr val="333333"/>
                </a:solidFill>
              </a:rPr>
              <a:t>devient</a:t>
            </a:r>
            <a:r>
              <a:rPr lang="en-US" sz="1269" dirty="0">
                <a:solidFill>
                  <a:srgbClr val="333333"/>
                </a:solidFill>
              </a:rPr>
              <a:t> </a:t>
            </a:r>
            <a:r>
              <a:rPr lang="en-US" sz="1269" dirty="0" err="1">
                <a:solidFill>
                  <a:srgbClr val="333333"/>
                </a:solidFill>
              </a:rPr>
              <a:t>prépondérant</a:t>
            </a:r>
            <a:r>
              <a:rPr lang="en-US" sz="1269" dirty="0">
                <a:solidFill>
                  <a:srgbClr val="333333"/>
                </a:solidFill>
              </a:rPr>
              <a:t>, tout </a:t>
            </a:r>
            <a:r>
              <a:rPr lang="en-US" sz="1269" dirty="0" err="1">
                <a:solidFill>
                  <a:srgbClr val="333333"/>
                </a:solidFill>
              </a:rPr>
              <a:t>comme</a:t>
            </a:r>
            <a:r>
              <a:rPr lang="en-US" sz="1269" dirty="0">
                <a:solidFill>
                  <a:srgbClr val="333333"/>
                </a:solidFill>
              </a:rPr>
              <a:t> la </a:t>
            </a:r>
            <a:r>
              <a:rPr lang="en-US" sz="1269" dirty="0" err="1">
                <a:solidFill>
                  <a:srgbClr val="333333"/>
                </a:solidFill>
              </a:rPr>
              <a:t>nécessité</a:t>
            </a:r>
            <a:r>
              <a:rPr lang="en-US" sz="1269" dirty="0">
                <a:solidFill>
                  <a:srgbClr val="333333"/>
                </a:solidFill>
              </a:rPr>
              <a:t> de </a:t>
            </a:r>
            <a:r>
              <a:rPr lang="en-US" sz="1269" dirty="0" err="1">
                <a:solidFill>
                  <a:srgbClr val="333333"/>
                </a:solidFill>
              </a:rPr>
              <a:t>lutter</a:t>
            </a:r>
            <a:r>
              <a:rPr lang="en-US" sz="1269" dirty="0">
                <a:solidFill>
                  <a:srgbClr val="333333"/>
                </a:solidFill>
              </a:rPr>
              <a:t> </a:t>
            </a:r>
            <a:r>
              <a:rPr lang="en-US" sz="1269" dirty="0" err="1">
                <a:solidFill>
                  <a:srgbClr val="333333"/>
                </a:solidFill>
              </a:rPr>
              <a:t>contre</a:t>
            </a:r>
            <a:r>
              <a:rPr lang="en-US" sz="1269" dirty="0">
                <a:solidFill>
                  <a:srgbClr val="333333"/>
                </a:solidFill>
              </a:rPr>
              <a:t> </a:t>
            </a:r>
            <a:r>
              <a:rPr lang="en-US" sz="1269" dirty="0" err="1">
                <a:solidFill>
                  <a:srgbClr val="333333"/>
                </a:solidFill>
              </a:rPr>
              <a:t>l'isolement</a:t>
            </a:r>
            <a:r>
              <a:rPr lang="en-US" sz="1269" dirty="0">
                <a:solidFill>
                  <a:srgbClr val="333333"/>
                </a:solidFill>
              </a:rPr>
              <a:t> social qui </a:t>
            </a:r>
            <a:r>
              <a:rPr lang="en-US" sz="1269" dirty="0" err="1">
                <a:solidFill>
                  <a:srgbClr val="333333"/>
                </a:solidFill>
              </a:rPr>
              <a:t>s'installe</a:t>
            </a:r>
            <a:r>
              <a:rPr lang="en-US" sz="1269" dirty="0">
                <a:solidFill>
                  <a:srgbClr val="333333"/>
                </a:solidFill>
              </a:rPr>
              <a:t> </a:t>
            </a:r>
            <a:r>
              <a:rPr lang="en-US" sz="1269" dirty="0" err="1">
                <a:solidFill>
                  <a:srgbClr val="333333"/>
                </a:solidFill>
              </a:rPr>
              <a:t>souvent</a:t>
            </a:r>
            <a:r>
              <a:rPr lang="en-US" sz="1269" dirty="0">
                <a:solidFill>
                  <a:srgbClr val="333333"/>
                </a:solidFill>
              </a:rPr>
              <a:t>.</a:t>
            </a:r>
            <a:endParaRPr lang="en-US" sz="1269" dirty="0"/>
          </a:p>
          <a:p>
            <a:pPr marL="0" indent="0" algn="just">
              <a:lnSpc>
                <a:spcPts val="2200"/>
              </a:lnSpc>
              <a:buNone/>
            </a:pPr>
            <a:endParaRPr lang="en-US" sz="1269" dirty="0"/>
          </a:p>
        </p:txBody>
      </p:sp>
      <p:sp>
        <p:nvSpPr>
          <p:cNvPr id="8" name="Shape 5"/>
          <p:cNvSpPr/>
          <p:nvPr/>
        </p:nvSpPr>
        <p:spPr>
          <a:xfrm>
            <a:off x="5246359" y="1925687"/>
            <a:ext cx="3326141" cy="2073473"/>
          </a:xfrm>
          <a:prstGeom prst="rect">
            <a:avLst/>
          </a:prstGeom>
          <a:solidFill>
            <a:srgbClr val="F0F8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5246359" y="1925687"/>
            <a:ext cx="57150" cy="2073473"/>
          </a:xfrm>
          <a:prstGeom prst="rect">
            <a:avLst/>
          </a:prstGeom>
          <a:solidFill>
            <a:srgbClr val="5A9FB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5452104" y="2297162"/>
            <a:ext cx="2948946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2C5F7C"/>
                </a:solidFill>
              </a:rPr>
              <a:t>💡 Le défi de l'animateur</a:t>
            </a:r>
            <a:endParaRPr lang="en-US" sz="1397" dirty="0"/>
          </a:p>
        </p:txBody>
      </p:sp>
      <p:sp>
        <p:nvSpPr>
          <p:cNvPr id="11" name="Text 8"/>
          <p:cNvSpPr/>
          <p:nvPr/>
        </p:nvSpPr>
        <p:spPr>
          <a:xfrm>
            <a:off x="5452104" y="2727573"/>
            <a:ext cx="2948946" cy="942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9" dirty="0">
                <a:solidFill>
                  <a:srgbClr val="555555"/>
                </a:solidFill>
              </a:rPr>
              <a:t>Proposer un cadre </a:t>
            </a:r>
            <a:r>
              <a:rPr lang="en-US" sz="1090" b="1" dirty="0">
                <a:solidFill>
                  <a:srgbClr val="F4A261"/>
                </a:solidFill>
              </a:rPr>
              <a:t>sécurisant</a:t>
            </a:r>
            <a:r>
              <a:rPr lang="en-US" sz="1159" dirty="0">
                <a:solidFill>
                  <a:srgbClr val="555555"/>
                </a:solidFill>
              </a:rPr>
              <a:t>, </a:t>
            </a:r>
            <a:r>
              <a:rPr lang="en-US" sz="1090" b="1" dirty="0">
                <a:solidFill>
                  <a:srgbClr val="F4A261"/>
                </a:solidFill>
              </a:rPr>
              <a:t>bienveillant</a:t>
            </a:r>
            <a:r>
              <a:rPr lang="en-US" sz="1159" dirty="0">
                <a:solidFill>
                  <a:srgbClr val="555555"/>
                </a:solidFill>
              </a:rPr>
              <a:t> et </a:t>
            </a:r>
            <a:r>
              <a:rPr lang="en-US" sz="1090" b="1" dirty="0">
                <a:solidFill>
                  <a:srgbClr val="F4A261"/>
                </a:solidFill>
              </a:rPr>
              <a:t>stimulant</a:t>
            </a:r>
            <a:r>
              <a:rPr lang="en-US" sz="1159" dirty="0">
                <a:solidFill>
                  <a:srgbClr val="555555"/>
                </a:solidFill>
              </a:rPr>
              <a:t> pour maintenir les capacités existantes et rassurer.</a:t>
            </a:r>
            <a:endParaRPr lang="en-US" sz="1159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285750"/>
            <a:ext cx="8286750" cy="91099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428625" y="1168171"/>
            <a:ext cx="8286750" cy="28575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428625" y="486752"/>
            <a:ext cx="8286750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2C5F7C"/>
                </a:solidFill>
              </a:rPr>
              <a:t>Caractéristiques Générales</a:t>
            </a:r>
            <a:endParaRPr lang="en-US" sz="2121" dirty="0"/>
          </a:p>
        </p:txBody>
      </p:sp>
      <p:sp>
        <p:nvSpPr>
          <p:cNvPr id="6" name="Shape 3"/>
          <p:cNvSpPr/>
          <p:nvPr/>
        </p:nvSpPr>
        <p:spPr>
          <a:xfrm>
            <a:off x="432197" y="1386055"/>
            <a:ext cx="1241924" cy="396478"/>
          </a:xfrm>
          <a:prstGeom prst="rect">
            <a:avLst/>
          </a:prstGeom>
          <a:solidFill>
            <a:srgbClr val="F0F8FC"/>
          </a:solidFill>
          <a:ln w="9144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432197" y="1386055"/>
            <a:ext cx="1241924" cy="39647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C5F7C"/>
                </a:solidFill>
              </a:rPr>
              <a:t>Domaine</a:t>
            </a:r>
            <a:endParaRPr lang="en-US" sz="885" dirty="0"/>
          </a:p>
        </p:txBody>
      </p:sp>
      <p:sp>
        <p:nvSpPr>
          <p:cNvPr id="8" name="Shape 5"/>
          <p:cNvSpPr/>
          <p:nvPr/>
        </p:nvSpPr>
        <p:spPr>
          <a:xfrm>
            <a:off x="1674121" y="1386055"/>
            <a:ext cx="2483876" cy="396478"/>
          </a:xfrm>
          <a:prstGeom prst="rect">
            <a:avLst/>
          </a:prstGeom>
          <a:solidFill>
            <a:srgbClr val="2C5F7C"/>
          </a:solidFill>
          <a:ln w="9144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1674121" y="1386055"/>
            <a:ext cx="2483876" cy="39647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Caractéristiques &amp; Capacités</a:t>
            </a:r>
            <a:endParaRPr lang="en-US" sz="885" dirty="0"/>
          </a:p>
        </p:txBody>
      </p:sp>
      <p:sp>
        <p:nvSpPr>
          <p:cNvPr id="10" name="Shape 7"/>
          <p:cNvSpPr/>
          <p:nvPr/>
        </p:nvSpPr>
        <p:spPr>
          <a:xfrm>
            <a:off x="4157997" y="1386055"/>
            <a:ext cx="2069902" cy="396478"/>
          </a:xfrm>
          <a:prstGeom prst="rect">
            <a:avLst/>
          </a:prstGeom>
          <a:solidFill>
            <a:srgbClr val="2C5F7C"/>
          </a:solidFill>
          <a:ln w="9144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4157997" y="1386055"/>
            <a:ext cx="2069902" cy="39647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Limites &amp; Fragilités</a:t>
            </a:r>
            <a:endParaRPr lang="en-US" sz="885" dirty="0"/>
          </a:p>
        </p:txBody>
      </p:sp>
      <p:sp>
        <p:nvSpPr>
          <p:cNvPr id="12" name="Shape 9"/>
          <p:cNvSpPr/>
          <p:nvPr/>
        </p:nvSpPr>
        <p:spPr>
          <a:xfrm>
            <a:off x="6227899" y="1386055"/>
            <a:ext cx="2483904" cy="396478"/>
          </a:xfrm>
          <a:prstGeom prst="rect">
            <a:avLst/>
          </a:prstGeom>
          <a:solidFill>
            <a:srgbClr val="2C5F7C"/>
          </a:solidFill>
          <a:ln w="9144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6227899" y="1386055"/>
            <a:ext cx="2483904" cy="39647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i="1" dirty="0">
                <a:solidFill>
                  <a:srgbClr val="555555"/>
                </a:solidFill>
              </a:rPr>
              <a:t>Exemple Concret</a:t>
            </a:r>
            <a:endParaRPr lang="en-US" sz="885" dirty="0"/>
          </a:p>
        </p:txBody>
      </p:sp>
      <p:sp>
        <p:nvSpPr>
          <p:cNvPr id="14" name="Shape 11"/>
          <p:cNvSpPr/>
          <p:nvPr/>
        </p:nvSpPr>
        <p:spPr>
          <a:xfrm>
            <a:off x="432197" y="1775389"/>
            <a:ext cx="1241924" cy="868663"/>
          </a:xfrm>
          <a:prstGeom prst="rect">
            <a:avLst/>
          </a:prstGeom>
          <a:solidFill>
            <a:srgbClr val="F0F8FC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432197" y="1775389"/>
            <a:ext cx="1241924" cy="86866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2C5F7C"/>
                </a:solidFill>
              </a:rPr>
              <a:t>Physique</a:t>
            </a:r>
            <a:endParaRPr lang="en-US" sz="885" dirty="0"/>
          </a:p>
        </p:txBody>
      </p:sp>
      <p:sp>
        <p:nvSpPr>
          <p:cNvPr id="16" name="Text 13"/>
          <p:cNvSpPr/>
          <p:nvPr/>
        </p:nvSpPr>
        <p:spPr>
          <a:xfrm>
            <a:off x="1927724" y="1886117"/>
            <a:ext cx="1391407" cy="3460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Motricité fine possible</a:t>
            </a:r>
          </a:p>
          <a:p>
            <a:pPr>
              <a:lnSpc>
                <a:spcPts val="1400"/>
              </a:lnSpc>
            </a:pPr>
            <a:r>
              <a:rPr lang="en-US" sz="942" dirty="0" err="1">
                <a:solidFill>
                  <a:srgbClr val="333333"/>
                </a:solidFill>
              </a:rPr>
              <a:t>Capacité</a:t>
            </a:r>
            <a:r>
              <a:rPr lang="en-US" sz="942" dirty="0">
                <a:solidFill>
                  <a:srgbClr val="333333"/>
                </a:solidFill>
              </a:rPr>
              <a:t> de </a:t>
            </a:r>
            <a:r>
              <a:rPr lang="en-US" sz="942" dirty="0" err="1">
                <a:solidFill>
                  <a:srgbClr val="333333"/>
                </a:solidFill>
              </a:rPr>
              <a:t>marche</a:t>
            </a:r>
            <a:r>
              <a:rPr lang="en-US" sz="942" dirty="0">
                <a:solidFill>
                  <a:srgbClr val="333333"/>
                </a:solidFill>
              </a:rPr>
              <a:t> (</a:t>
            </a:r>
            <a:r>
              <a:rPr lang="en-US" sz="942" dirty="0" err="1">
                <a:solidFill>
                  <a:srgbClr val="333333"/>
                </a:solidFill>
              </a:rPr>
              <a:t>courte</a:t>
            </a:r>
            <a:r>
              <a:rPr lang="en-US" sz="942" dirty="0">
                <a:solidFill>
                  <a:srgbClr val="333333"/>
                </a:solidFill>
              </a:rPr>
              <a:t>)</a:t>
            </a:r>
            <a:endParaRPr lang="en-US" sz="942" dirty="0"/>
          </a:p>
        </p:txBody>
      </p:sp>
      <p:sp>
        <p:nvSpPr>
          <p:cNvPr id="18" name="Text 15"/>
          <p:cNvSpPr/>
          <p:nvPr/>
        </p:nvSpPr>
        <p:spPr>
          <a:xfrm>
            <a:off x="4411600" y="1886117"/>
            <a:ext cx="1093248" cy="5255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 err="1">
                <a:solidFill>
                  <a:srgbClr val="333333"/>
                </a:solidFill>
              </a:rPr>
              <a:t>Fatigabilité</a:t>
            </a:r>
            <a:r>
              <a:rPr lang="en-US" sz="942" dirty="0">
                <a:solidFill>
                  <a:srgbClr val="333333"/>
                </a:solidFill>
              </a:rPr>
              <a:t> accrue</a:t>
            </a:r>
          </a:p>
          <a:p>
            <a:pPr>
              <a:lnSpc>
                <a:spcPts val="1400"/>
              </a:lnSpc>
            </a:pPr>
            <a:r>
              <a:rPr lang="en-US" sz="942" dirty="0">
                <a:solidFill>
                  <a:srgbClr val="333333"/>
                </a:solidFill>
              </a:rPr>
              <a:t>Troubles de </a:t>
            </a:r>
            <a:r>
              <a:rPr lang="en-US" sz="942" dirty="0" err="1">
                <a:solidFill>
                  <a:srgbClr val="333333"/>
                </a:solidFill>
              </a:rPr>
              <a:t>l'équilibre</a:t>
            </a:r>
            <a:endParaRPr lang="en-US" sz="942" dirty="0">
              <a:solidFill>
                <a:srgbClr val="333333"/>
              </a:solidFill>
            </a:endParaRPr>
          </a:p>
          <a:p>
            <a:pPr>
              <a:lnSpc>
                <a:spcPts val="1400"/>
              </a:lnSpc>
            </a:pPr>
            <a:r>
              <a:rPr lang="en-US" sz="942" dirty="0" err="1">
                <a:solidFill>
                  <a:srgbClr val="333333"/>
                </a:solidFill>
              </a:rPr>
              <a:t>Baisse</a:t>
            </a:r>
            <a:r>
              <a:rPr lang="en-US" sz="942" dirty="0">
                <a:solidFill>
                  <a:srgbClr val="333333"/>
                </a:solidFill>
              </a:rPr>
              <a:t> </a:t>
            </a:r>
            <a:r>
              <a:rPr lang="en-US" sz="942" dirty="0" err="1">
                <a:solidFill>
                  <a:srgbClr val="333333"/>
                </a:solidFill>
              </a:rPr>
              <a:t>vue</a:t>
            </a:r>
            <a:r>
              <a:rPr lang="en-US" sz="942" dirty="0">
                <a:solidFill>
                  <a:srgbClr val="333333"/>
                </a:solidFill>
              </a:rPr>
              <a:t>/audition</a:t>
            </a:r>
            <a:endParaRPr lang="en-US" sz="942" dirty="0"/>
          </a:p>
        </p:txBody>
      </p:sp>
      <p:sp>
        <p:nvSpPr>
          <p:cNvPr id="21" name="Text 18"/>
          <p:cNvSpPr/>
          <p:nvPr/>
        </p:nvSpPr>
        <p:spPr>
          <a:xfrm>
            <a:off x="6227899" y="1775389"/>
            <a:ext cx="2483904" cy="86866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i="1" dirty="0">
                <a:solidFill>
                  <a:srgbClr val="555555"/>
                </a:solidFill>
              </a:rPr>
              <a:t>Peut participer à un atelier cuisine assis, mais ne peut pas rester debout longtemps.</a:t>
            </a:r>
            <a:endParaRPr lang="en-US" sz="942" dirty="0"/>
          </a:p>
        </p:txBody>
      </p:sp>
      <p:sp>
        <p:nvSpPr>
          <p:cNvPr id="22" name="Shape 19"/>
          <p:cNvSpPr/>
          <p:nvPr/>
        </p:nvSpPr>
        <p:spPr>
          <a:xfrm>
            <a:off x="432197" y="2644053"/>
            <a:ext cx="8279606" cy="868663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Shape 20"/>
          <p:cNvSpPr/>
          <p:nvPr/>
        </p:nvSpPr>
        <p:spPr>
          <a:xfrm>
            <a:off x="432197" y="2644053"/>
            <a:ext cx="1241924" cy="868663"/>
          </a:xfrm>
          <a:prstGeom prst="rect">
            <a:avLst/>
          </a:prstGeom>
          <a:solidFill>
            <a:srgbClr val="F0F8FC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1"/>
          <p:cNvSpPr/>
          <p:nvPr/>
        </p:nvSpPr>
        <p:spPr>
          <a:xfrm>
            <a:off x="432197" y="2644053"/>
            <a:ext cx="1241924" cy="86866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2C5F7C"/>
                </a:solidFill>
              </a:rPr>
              <a:t>Cognitif</a:t>
            </a:r>
            <a:endParaRPr lang="en-US" sz="885" dirty="0"/>
          </a:p>
        </p:txBody>
      </p:sp>
      <p:sp>
        <p:nvSpPr>
          <p:cNvPr id="25" name="Text 22"/>
          <p:cNvSpPr/>
          <p:nvPr/>
        </p:nvSpPr>
        <p:spPr>
          <a:xfrm>
            <a:off x="1927724" y="2754781"/>
            <a:ext cx="1292020" cy="3460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Mémoire </a:t>
            </a:r>
            <a:r>
              <a:rPr lang="en-US" sz="942" dirty="0" err="1">
                <a:solidFill>
                  <a:srgbClr val="333333"/>
                </a:solidFill>
              </a:rPr>
              <a:t>ancienne</a:t>
            </a:r>
            <a:r>
              <a:rPr lang="en-US" sz="942" dirty="0">
                <a:solidFill>
                  <a:srgbClr val="333333"/>
                </a:solidFill>
              </a:rPr>
              <a:t> </a:t>
            </a:r>
            <a:r>
              <a:rPr lang="en-US" sz="942" dirty="0" err="1">
                <a:solidFill>
                  <a:srgbClr val="333333"/>
                </a:solidFill>
              </a:rPr>
              <a:t>intacte</a:t>
            </a:r>
            <a:endParaRPr lang="en-US" sz="942" dirty="0">
              <a:solidFill>
                <a:srgbClr val="333333"/>
              </a:solidFill>
            </a:endParaRPr>
          </a:p>
          <a:p>
            <a:pPr>
              <a:lnSpc>
                <a:spcPts val="1400"/>
              </a:lnSpc>
            </a:pPr>
            <a:r>
              <a:rPr lang="en-US" sz="942" dirty="0" err="1">
                <a:solidFill>
                  <a:srgbClr val="333333"/>
                </a:solidFill>
              </a:rPr>
              <a:t>Capacité</a:t>
            </a:r>
            <a:r>
              <a:rPr lang="en-US" sz="942" dirty="0">
                <a:solidFill>
                  <a:srgbClr val="333333"/>
                </a:solidFill>
              </a:rPr>
              <a:t> de </a:t>
            </a:r>
            <a:r>
              <a:rPr lang="en-US" sz="942" dirty="0" err="1">
                <a:solidFill>
                  <a:srgbClr val="333333"/>
                </a:solidFill>
              </a:rPr>
              <a:t>jugement</a:t>
            </a:r>
            <a:endParaRPr lang="en-US" sz="942" dirty="0"/>
          </a:p>
        </p:txBody>
      </p:sp>
      <p:sp>
        <p:nvSpPr>
          <p:cNvPr id="27" name="Text 24"/>
          <p:cNvSpPr/>
          <p:nvPr/>
        </p:nvSpPr>
        <p:spPr>
          <a:xfrm>
            <a:off x="4411600" y="2754781"/>
            <a:ext cx="1338508" cy="5255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Mémoire </a:t>
            </a:r>
            <a:r>
              <a:rPr lang="en-US" sz="942" dirty="0" err="1">
                <a:solidFill>
                  <a:srgbClr val="333333"/>
                </a:solidFill>
              </a:rPr>
              <a:t>immédiate</a:t>
            </a:r>
            <a:r>
              <a:rPr lang="en-US" sz="942" dirty="0">
                <a:solidFill>
                  <a:srgbClr val="333333"/>
                </a:solidFill>
              </a:rPr>
              <a:t> fragile</a:t>
            </a:r>
          </a:p>
          <a:p>
            <a:pPr>
              <a:lnSpc>
                <a:spcPts val="1400"/>
              </a:lnSpc>
            </a:pPr>
            <a:r>
              <a:rPr lang="en-US" sz="942" dirty="0" err="1">
                <a:solidFill>
                  <a:srgbClr val="333333"/>
                </a:solidFill>
              </a:rPr>
              <a:t>Lenteur</a:t>
            </a:r>
            <a:r>
              <a:rPr lang="en-US" sz="942" dirty="0">
                <a:solidFill>
                  <a:srgbClr val="333333"/>
                </a:solidFill>
              </a:rPr>
              <a:t> de </a:t>
            </a:r>
            <a:r>
              <a:rPr lang="en-US" sz="942" dirty="0" err="1">
                <a:solidFill>
                  <a:srgbClr val="333333"/>
                </a:solidFill>
              </a:rPr>
              <a:t>traitement</a:t>
            </a:r>
            <a:endParaRPr lang="en-US" sz="942" dirty="0"/>
          </a:p>
          <a:p>
            <a:pPr>
              <a:lnSpc>
                <a:spcPts val="1400"/>
              </a:lnSpc>
            </a:pPr>
            <a:r>
              <a:rPr lang="en-US" sz="942" dirty="0" err="1">
                <a:solidFill>
                  <a:srgbClr val="333333"/>
                </a:solidFill>
              </a:rPr>
              <a:t>Difficulté</a:t>
            </a:r>
            <a:r>
              <a:rPr lang="en-US" sz="942" dirty="0">
                <a:solidFill>
                  <a:srgbClr val="333333"/>
                </a:solidFill>
              </a:rPr>
              <a:t> </a:t>
            </a:r>
            <a:r>
              <a:rPr lang="en-US" sz="942" dirty="0" err="1">
                <a:solidFill>
                  <a:srgbClr val="333333"/>
                </a:solidFill>
              </a:rPr>
              <a:t>d'adaptation</a:t>
            </a:r>
            <a:endParaRPr lang="en-US" sz="942" dirty="0"/>
          </a:p>
        </p:txBody>
      </p:sp>
      <p:sp>
        <p:nvSpPr>
          <p:cNvPr id="30" name="Text 27"/>
          <p:cNvSpPr/>
          <p:nvPr/>
        </p:nvSpPr>
        <p:spPr>
          <a:xfrm>
            <a:off x="6227899" y="2644053"/>
            <a:ext cx="2483904" cy="86866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i="1" dirty="0">
                <a:solidFill>
                  <a:srgbClr val="555555"/>
                </a:solidFill>
              </a:rPr>
              <a:t>Se souvient parfaitement de son école primaire, mais oublie ce qu'il a mangé hier midi.</a:t>
            </a:r>
            <a:endParaRPr lang="en-US" sz="942" dirty="0"/>
          </a:p>
        </p:txBody>
      </p:sp>
      <p:sp>
        <p:nvSpPr>
          <p:cNvPr id="31" name="Shape 28"/>
          <p:cNvSpPr/>
          <p:nvPr/>
        </p:nvSpPr>
        <p:spPr>
          <a:xfrm>
            <a:off x="432197" y="3512716"/>
            <a:ext cx="1241924" cy="1048680"/>
          </a:xfrm>
          <a:prstGeom prst="rect">
            <a:avLst/>
          </a:prstGeom>
          <a:solidFill>
            <a:srgbClr val="F0F8FC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29"/>
          <p:cNvSpPr/>
          <p:nvPr/>
        </p:nvSpPr>
        <p:spPr>
          <a:xfrm>
            <a:off x="432197" y="3512716"/>
            <a:ext cx="1241924" cy="104868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2C5F7C"/>
                </a:solidFill>
              </a:rPr>
              <a:t>Psycho-social</a:t>
            </a:r>
            <a:endParaRPr lang="en-US" sz="885" dirty="0"/>
          </a:p>
        </p:txBody>
      </p:sp>
      <p:sp>
        <p:nvSpPr>
          <p:cNvPr id="33" name="Text 30"/>
          <p:cNvSpPr/>
          <p:nvPr/>
        </p:nvSpPr>
        <p:spPr>
          <a:xfrm>
            <a:off x="1924683" y="3623444"/>
            <a:ext cx="1340110" cy="3460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Besoin de </a:t>
            </a:r>
            <a:r>
              <a:rPr lang="en-US" sz="942" dirty="0" err="1">
                <a:solidFill>
                  <a:srgbClr val="333333"/>
                </a:solidFill>
              </a:rPr>
              <a:t>repères</a:t>
            </a:r>
            <a:endParaRPr lang="en-US" sz="942" dirty="0">
              <a:solidFill>
                <a:srgbClr val="333333"/>
              </a:solidFill>
            </a:endParaRPr>
          </a:p>
          <a:p>
            <a:pPr>
              <a:lnSpc>
                <a:spcPts val="1400"/>
              </a:lnSpc>
            </a:pPr>
            <a:r>
              <a:rPr lang="en-US" sz="942" dirty="0" err="1">
                <a:solidFill>
                  <a:srgbClr val="333333"/>
                </a:solidFill>
              </a:rPr>
              <a:t>Attachement</a:t>
            </a:r>
            <a:r>
              <a:rPr lang="en-US" sz="942" dirty="0">
                <a:solidFill>
                  <a:srgbClr val="333333"/>
                </a:solidFill>
              </a:rPr>
              <a:t> aux souvenirs</a:t>
            </a:r>
            <a:endParaRPr lang="en-US" sz="942" dirty="0"/>
          </a:p>
        </p:txBody>
      </p:sp>
      <p:sp>
        <p:nvSpPr>
          <p:cNvPr id="35" name="Text 32"/>
          <p:cNvSpPr/>
          <p:nvPr/>
        </p:nvSpPr>
        <p:spPr>
          <a:xfrm>
            <a:off x="4409619" y="3623444"/>
            <a:ext cx="1394613" cy="5255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Repli sur soi</a:t>
            </a:r>
          </a:p>
          <a:p>
            <a:pPr>
              <a:lnSpc>
                <a:spcPts val="1400"/>
              </a:lnSpc>
            </a:pPr>
            <a:r>
              <a:rPr lang="en-US" sz="942" dirty="0" err="1">
                <a:solidFill>
                  <a:srgbClr val="333333"/>
                </a:solidFill>
              </a:rPr>
              <a:t>Peur</a:t>
            </a:r>
            <a:r>
              <a:rPr lang="en-US" sz="942" dirty="0">
                <a:solidFill>
                  <a:srgbClr val="333333"/>
                </a:solidFill>
              </a:rPr>
              <a:t> de la chute/</a:t>
            </a:r>
            <a:r>
              <a:rPr lang="en-US" sz="942" dirty="0" err="1">
                <a:solidFill>
                  <a:srgbClr val="333333"/>
                </a:solidFill>
              </a:rPr>
              <a:t>extérieur</a:t>
            </a:r>
            <a:endParaRPr lang="en-US" sz="942" dirty="0"/>
          </a:p>
          <a:p>
            <a:pPr>
              <a:lnSpc>
                <a:spcPts val="1400"/>
              </a:lnSpc>
            </a:pPr>
            <a:r>
              <a:rPr lang="en-US" sz="942" dirty="0" err="1">
                <a:solidFill>
                  <a:srgbClr val="333333"/>
                </a:solidFill>
              </a:rPr>
              <a:t>Anxiété</a:t>
            </a:r>
            <a:r>
              <a:rPr lang="en-US" sz="942" dirty="0">
                <a:solidFill>
                  <a:srgbClr val="333333"/>
                </a:solidFill>
              </a:rPr>
              <a:t> face au </a:t>
            </a:r>
            <a:r>
              <a:rPr lang="en-US" sz="942" dirty="0" err="1">
                <a:solidFill>
                  <a:srgbClr val="333333"/>
                </a:solidFill>
              </a:rPr>
              <a:t>changement</a:t>
            </a:r>
            <a:endParaRPr lang="en-US" sz="942" dirty="0"/>
          </a:p>
        </p:txBody>
      </p:sp>
      <p:sp>
        <p:nvSpPr>
          <p:cNvPr id="38" name="Text 35"/>
          <p:cNvSpPr/>
          <p:nvPr/>
        </p:nvSpPr>
        <p:spPr>
          <a:xfrm>
            <a:off x="6226811" y="3512716"/>
            <a:ext cx="2484993" cy="104868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i="1" dirty="0">
                <a:solidFill>
                  <a:srgbClr val="555555"/>
                </a:solidFill>
              </a:rPr>
              <a:t>Refuse une sortie car "c'est trop loin" ou "je ne connais pas", par peur de ne pas maîtriser.</a:t>
            </a:r>
            <a:endParaRPr lang="en-US" sz="94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07961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285750"/>
            <a:ext cx="8286750" cy="91099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428625" y="1168171"/>
            <a:ext cx="8286750" cy="28575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428625" y="486752"/>
            <a:ext cx="8286750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2C5F7C"/>
                </a:solidFill>
              </a:rPr>
              <a:t>Les Besoins Spécifiques</a:t>
            </a:r>
            <a:endParaRPr lang="en-US" sz="2121" dirty="0"/>
          </a:p>
        </p:txBody>
      </p:sp>
      <p:sp>
        <p:nvSpPr>
          <p:cNvPr id="6" name="Shape 3"/>
          <p:cNvSpPr/>
          <p:nvPr/>
        </p:nvSpPr>
        <p:spPr>
          <a:xfrm>
            <a:off x="428625" y="1453921"/>
            <a:ext cx="4107656" cy="1769864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428625" y="1453921"/>
            <a:ext cx="4107656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>
            <a:off x="4529138" y="1453921"/>
            <a:ext cx="7144" cy="176986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428625" y="3216641"/>
            <a:ext cx="4107656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428625" y="1453921"/>
            <a:ext cx="42863" cy="1769864"/>
          </a:xfrm>
          <a:prstGeom prst="rect">
            <a:avLst/>
          </a:prstGeom>
          <a:solidFill>
            <a:srgbClr val="2C5F7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557213" y="1692343"/>
            <a:ext cx="357188" cy="35718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081" y="1785212"/>
            <a:ext cx="171450" cy="1714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21556" y="1753958"/>
            <a:ext cx="255581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C5F7C"/>
                </a:solidFill>
              </a:rPr>
              <a:t>Sécurité Physique et Affective</a:t>
            </a:r>
            <a:endParaRPr lang="en-US" sz="1193" dirty="0"/>
          </a:p>
        </p:txBody>
      </p:sp>
      <p:sp>
        <p:nvSpPr>
          <p:cNvPr id="14" name="Text 10"/>
          <p:cNvSpPr/>
          <p:nvPr/>
        </p:nvSpPr>
        <p:spPr>
          <a:xfrm>
            <a:off x="557213" y="2373678"/>
            <a:ext cx="3850481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Ils ont besoin d'un environnement </a:t>
            </a:r>
            <a:r>
              <a:rPr lang="en-US" sz="885" b="1" dirty="0">
                <a:solidFill>
                  <a:srgbClr val="555555"/>
                </a:solidFill>
              </a:rPr>
              <a:t>rassurant</a:t>
            </a:r>
            <a:r>
              <a:rPr lang="en-US" sz="942" dirty="0">
                <a:solidFill>
                  <a:srgbClr val="555555"/>
                </a:solidFill>
              </a:rPr>
              <a:t>, sans obstacles, et d'une présence bienveillante qui les met en confiance face à leurs fragilités naissantes.</a:t>
            </a:r>
            <a:endParaRPr lang="en-US" sz="942" dirty="0"/>
          </a:p>
        </p:txBody>
      </p:sp>
      <p:sp>
        <p:nvSpPr>
          <p:cNvPr id="15" name="Shape 11"/>
          <p:cNvSpPr/>
          <p:nvPr/>
        </p:nvSpPr>
        <p:spPr>
          <a:xfrm>
            <a:off x="4607719" y="1453921"/>
            <a:ext cx="4107656" cy="1769864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Shape 12"/>
          <p:cNvSpPr/>
          <p:nvPr/>
        </p:nvSpPr>
        <p:spPr>
          <a:xfrm>
            <a:off x="4607719" y="1453921"/>
            <a:ext cx="4107656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3"/>
          <p:cNvSpPr/>
          <p:nvPr/>
        </p:nvSpPr>
        <p:spPr>
          <a:xfrm>
            <a:off x="8708231" y="1453921"/>
            <a:ext cx="7144" cy="176986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Shape 14"/>
          <p:cNvSpPr/>
          <p:nvPr/>
        </p:nvSpPr>
        <p:spPr>
          <a:xfrm>
            <a:off x="4607719" y="3216641"/>
            <a:ext cx="4107656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Shape 15"/>
          <p:cNvSpPr/>
          <p:nvPr/>
        </p:nvSpPr>
        <p:spPr>
          <a:xfrm>
            <a:off x="4607719" y="1453921"/>
            <a:ext cx="42863" cy="1769864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Shape 16"/>
          <p:cNvSpPr/>
          <p:nvPr/>
        </p:nvSpPr>
        <p:spPr>
          <a:xfrm>
            <a:off x="4736306" y="1692343"/>
            <a:ext cx="357188" cy="35718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9175" y="1785212"/>
            <a:ext cx="171450" cy="17145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200650" y="1753958"/>
            <a:ext cx="220245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C5F7C"/>
                </a:solidFill>
              </a:rPr>
              <a:t>Repères Spatio-Temporels</a:t>
            </a:r>
            <a:endParaRPr lang="en-US" sz="1193" dirty="0"/>
          </a:p>
        </p:txBody>
      </p:sp>
      <p:sp>
        <p:nvSpPr>
          <p:cNvPr id="23" name="Text 18"/>
          <p:cNvSpPr/>
          <p:nvPr/>
        </p:nvSpPr>
        <p:spPr>
          <a:xfrm>
            <a:off x="4736306" y="2373678"/>
            <a:ext cx="3850481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La routine et la régularité sont essentielles. Ils ont besoin de savoir où ils vont, avec qui, et ce qui va se passer pour ne pas générer d'anxiété.</a:t>
            </a:r>
            <a:endParaRPr lang="en-US" sz="942" dirty="0"/>
          </a:p>
        </p:txBody>
      </p:sp>
      <p:sp>
        <p:nvSpPr>
          <p:cNvPr id="24" name="Shape 19"/>
          <p:cNvSpPr/>
          <p:nvPr/>
        </p:nvSpPr>
        <p:spPr>
          <a:xfrm>
            <a:off x="428625" y="3295222"/>
            <a:ext cx="4107656" cy="1769864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Shape 20"/>
          <p:cNvSpPr/>
          <p:nvPr/>
        </p:nvSpPr>
        <p:spPr>
          <a:xfrm>
            <a:off x="428625" y="3295222"/>
            <a:ext cx="4107656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Shape 21"/>
          <p:cNvSpPr/>
          <p:nvPr/>
        </p:nvSpPr>
        <p:spPr>
          <a:xfrm>
            <a:off x="4529138" y="3295222"/>
            <a:ext cx="7144" cy="176986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Shape 22"/>
          <p:cNvSpPr/>
          <p:nvPr/>
        </p:nvSpPr>
        <p:spPr>
          <a:xfrm>
            <a:off x="428625" y="5057942"/>
            <a:ext cx="4107656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Shape 23"/>
          <p:cNvSpPr/>
          <p:nvPr/>
        </p:nvSpPr>
        <p:spPr>
          <a:xfrm>
            <a:off x="428625" y="3295222"/>
            <a:ext cx="42863" cy="1769864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Shape 24"/>
          <p:cNvSpPr/>
          <p:nvPr/>
        </p:nvSpPr>
        <p:spPr>
          <a:xfrm>
            <a:off x="557213" y="3533645"/>
            <a:ext cx="357188" cy="35718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" y="3626514"/>
            <a:ext cx="214313" cy="17145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021556" y="3595260"/>
            <a:ext cx="214999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C5F7C"/>
                </a:solidFill>
              </a:rPr>
              <a:t>Lutter contre l'Isolement</a:t>
            </a:r>
            <a:endParaRPr lang="en-US" sz="1193" dirty="0"/>
          </a:p>
        </p:txBody>
      </p:sp>
      <p:sp>
        <p:nvSpPr>
          <p:cNvPr id="32" name="Text 26"/>
          <p:cNvSpPr/>
          <p:nvPr/>
        </p:nvSpPr>
        <p:spPr>
          <a:xfrm>
            <a:off x="557213" y="4214980"/>
            <a:ext cx="3850481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Avec la réduction de la mobilité, le risque de repli est grand. Ils ont besoin qu'on aille vers eux et qu'on facilite le lien social (transport, proximité).</a:t>
            </a:r>
            <a:endParaRPr lang="en-US" sz="942" dirty="0"/>
          </a:p>
        </p:txBody>
      </p:sp>
      <p:sp>
        <p:nvSpPr>
          <p:cNvPr id="33" name="Shape 27"/>
          <p:cNvSpPr/>
          <p:nvPr/>
        </p:nvSpPr>
        <p:spPr>
          <a:xfrm>
            <a:off x="4607719" y="3295222"/>
            <a:ext cx="4107656" cy="1769864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Shape 28"/>
          <p:cNvSpPr/>
          <p:nvPr/>
        </p:nvSpPr>
        <p:spPr>
          <a:xfrm>
            <a:off x="4607719" y="3295222"/>
            <a:ext cx="4107656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Shape 29"/>
          <p:cNvSpPr/>
          <p:nvPr/>
        </p:nvSpPr>
        <p:spPr>
          <a:xfrm>
            <a:off x="8708231" y="3295222"/>
            <a:ext cx="7144" cy="176986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Shape 30"/>
          <p:cNvSpPr/>
          <p:nvPr/>
        </p:nvSpPr>
        <p:spPr>
          <a:xfrm>
            <a:off x="4607719" y="5057942"/>
            <a:ext cx="4107656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Shape 31"/>
          <p:cNvSpPr/>
          <p:nvPr/>
        </p:nvSpPr>
        <p:spPr>
          <a:xfrm>
            <a:off x="4607719" y="3295222"/>
            <a:ext cx="42863" cy="1769864"/>
          </a:xfrm>
          <a:prstGeom prst="rect">
            <a:avLst/>
          </a:prstGeom>
          <a:solidFill>
            <a:srgbClr val="2C5F7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Shape 32"/>
          <p:cNvSpPr/>
          <p:nvPr/>
        </p:nvSpPr>
        <p:spPr>
          <a:xfrm>
            <a:off x="4736306" y="3519357"/>
            <a:ext cx="357188" cy="35718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9175" y="3612226"/>
            <a:ext cx="171450" cy="171450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5200650" y="3580972"/>
            <a:ext cx="193140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C5F7C"/>
                </a:solidFill>
              </a:rPr>
              <a:t>Maintenir l'Autonomie</a:t>
            </a:r>
            <a:endParaRPr lang="en-US" sz="1193" dirty="0"/>
          </a:p>
        </p:txBody>
      </p:sp>
      <p:sp>
        <p:nvSpPr>
          <p:cNvPr id="41" name="Text 34"/>
          <p:cNvSpPr/>
          <p:nvPr/>
        </p:nvSpPr>
        <p:spPr>
          <a:xfrm>
            <a:off x="4736306" y="4200692"/>
            <a:ext cx="3850481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"Faire encore soi-même" est vital pour l'estime de soi. Ils ont besoin d'être stimulés pour conserver leurs acquis le plus longtemps possible.</a:t>
            </a:r>
            <a:endParaRPr lang="en-US" sz="94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05840" y="48722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285750"/>
            <a:ext cx="8286750" cy="91099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428625" y="1168171"/>
            <a:ext cx="8286750" cy="28575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428625" y="486752"/>
            <a:ext cx="8286750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2C5F7C"/>
                </a:solidFill>
              </a:rPr>
              <a:t>Le Rôle de l'Animateur : Que Mettre en Place ?</a:t>
            </a:r>
            <a:endParaRPr lang="en-US" sz="2121" dirty="0"/>
          </a:p>
        </p:txBody>
      </p:sp>
      <p:sp>
        <p:nvSpPr>
          <p:cNvPr id="6" name="Shape 3"/>
          <p:cNvSpPr/>
          <p:nvPr/>
        </p:nvSpPr>
        <p:spPr>
          <a:xfrm>
            <a:off x="432197" y="1314617"/>
            <a:ext cx="1655899" cy="325041"/>
          </a:xfrm>
          <a:prstGeom prst="rect">
            <a:avLst/>
          </a:prstGeom>
          <a:solidFill>
            <a:srgbClr val="F0F8FC"/>
          </a:solidFill>
          <a:ln w="9144">
            <a:solidFill>
              <a:srgbClr val="5A9F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432197" y="1314617"/>
            <a:ext cx="1655899" cy="325041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C5F7C"/>
                </a:solidFill>
              </a:rPr>
              <a:t>Objectif</a:t>
            </a:r>
            <a:endParaRPr lang="en-US" sz="885" dirty="0"/>
          </a:p>
        </p:txBody>
      </p:sp>
      <p:sp>
        <p:nvSpPr>
          <p:cNvPr id="8" name="Shape 5"/>
          <p:cNvSpPr/>
          <p:nvPr/>
        </p:nvSpPr>
        <p:spPr>
          <a:xfrm>
            <a:off x="2088096" y="1314617"/>
            <a:ext cx="3725800" cy="325041"/>
          </a:xfrm>
          <a:prstGeom prst="rect">
            <a:avLst/>
          </a:prstGeom>
          <a:solidFill>
            <a:srgbClr val="5A9FBD"/>
          </a:solidFill>
          <a:ln w="9144">
            <a:solidFill>
              <a:srgbClr val="5A9F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2088096" y="1314617"/>
            <a:ext cx="3725800" cy="325041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Actions et Activités Possibles</a:t>
            </a:r>
            <a:endParaRPr lang="en-US" sz="885" dirty="0"/>
          </a:p>
        </p:txBody>
      </p:sp>
      <p:sp>
        <p:nvSpPr>
          <p:cNvPr id="10" name="Shape 7"/>
          <p:cNvSpPr/>
          <p:nvPr/>
        </p:nvSpPr>
        <p:spPr>
          <a:xfrm>
            <a:off x="5813896" y="1314617"/>
            <a:ext cx="2897907" cy="325041"/>
          </a:xfrm>
          <a:prstGeom prst="rect">
            <a:avLst/>
          </a:prstGeom>
          <a:solidFill>
            <a:srgbClr val="5A9FBD"/>
          </a:solidFill>
          <a:ln w="9144">
            <a:solidFill>
              <a:srgbClr val="5A9F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5813896" y="1314617"/>
            <a:ext cx="2897907" cy="325041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i="1" dirty="0">
                <a:solidFill>
                  <a:srgbClr val="555555"/>
                </a:solidFill>
              </a:rPr>
              <a:t>Conseils pour l'Animateur</a:t>
            </a:r>
            <a:endParaRPr lang="en-US" sz="885" dirty="0"/>
          </a:p>
        </p:txBody>
      </p:sp>
      <p:sp>
        <p:nvSpPr>
          <p:cNvPr id="12" name="Shape 9"/>
          <p:cNvSpPr/>
          <p:nvPr/>
        </p:nvSpPr>
        <p:spPr>
          <a:xfrm>
            <a:off x="432197" y="1632514"/>
            <a:ext cx="1655899" cy="775795"/>
          </a:xfrm>
          <a:prstGeom prst="rect">
            <a:avLst/>
          </a:prstGeom>
          <a:solidFill>
            <a:srgbClr val="F0F8FC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432197" y="1632514"/>
            <a:ext cx="1655899" cy="77579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2C5F7C"/>
                </a:solidFill>
              </a:rPr>
              <a:t>Rassurer et Sécuriser</a:t>
            </a:r>
            <a:endParaRPr lang="en-US" sz="885" dirty="0"/>
          </a:p>
        </p:txBody>
      </p:sp>
      <p:sp>
        <p:nvSpPr>
          <p:cNvPr id="14" name="Text 11"/>
          <p:cNvSpPr/>
          <p:nvPr/>
        </p:nvSpPr>
        <p:spPr>
          <a:xfrm>
            <a:off x="2305980" y="1709310"/>
            <a:ext cx="110624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2C5F7C"/>
                </a:solidFill>
              </a:rPr>
              <a:t>Rituels d'accueil :</a:t>
            </a:r>
            <a:endParaRPr lang="en-US" sz="885" dirty="0"/>
          </a:p>
        </p:txBody>
      </p:sp>
      <p:sp>
        <p:nvSpPr>
          <p:cNvPr id="15" name="Text 12"/>
          <p:cNvSpPr/>
          <p:nvPr/>
        </p:nvSpPr>
        <p:spPr>
          <a:xfrm>
            <a:off x="3412229" y="1709310"/>
            <a:ext cx="193344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Café, lecture du journal, météo.</a:t>
            </a:r>
            <a:endParaRPr lang="en-US" sz="942" dirty="0"/>
          </a:p>
        </p:txBody>
      </p:sp>
      <p:sp>
        <p:nvSpPr>
          <p:cNvPr id="16" name="Text 13"/>
          <p:cNvSpPr/>
          <p:nvPr/>
        </p:nvSpPr>
        <p:spPr>
          <a:xfrm>
            <a:off x="2305980" y="1932189"/>
            <a:ext cx="111294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2C5F7C"/>
                </a:solidFill>
              </a:rPr>
              <a:t>Activités douces :</a:t>
            </a:r>
            <a:endParaRPr lang="en-US" sz="885" dirty="0"/>
          </a:p>
        </p:txBody>
      </p:sp>
      <p:sp>
        <p:nvSpPr>
          <p:cNvPr id="17" name="Text 14"/>
          <p:cNvSpPr/>
          <p:nvPr/>
        </p:nvSpPr>
        <p:spPr>
          <a:xfrm>
            <a:off x="2303134" y="2053270"/>
            <a:ext cx="3219097" cy="355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Gym sur chaise, relaxation, écoute musicale.</a:t>
            </a:r>
            <a:endParaRPr lang="en-US" sz="942" dirty="0"/>
          </a:p>
        </p:txBody>
      </p:sp>
      <p:sp>
        <p:nvSpPr>
          <p:cNvPr id="18" name="Text 15"/>
          <p:cNvSpPr/>
          <p:nvPr/>
        </p:nvSpPr>
        <p:spPr>
          <a:xfrm>
            <a:off x="5813896" y="1632514"/>
            <a:ext cx="2897907" cy="77579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i="1" dirty="0">
                <a:solidFill>
                  <a:srgbClr val="555555"/>
                </a:solidFill>
              </a:rPr>
              <a:t>Soyez prévisible. Verbalisez le déroulé. Veillez au confort physique (lumière, assise stable).</a:t>
            </a:r>
            <a:endParaRPr lang="en-US" sz="942" dirty="0"/>
          </a:p>
        </p:txBody>
      </p:sp>
      <p:sp>
        <p:nvSpPr>
          <p:cNvPr id="19" name="Shape 16"/>
          <p:cNvSpPr/>
          <p:nvPr/>
        </p:nvSpPr>
        <p:spPr>
          <a:xfrm>
            <a:off x="432197" y="2408309"/>
            <a:ext cx="8279606" cy="775795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Shape 17"/>
          <p:cNvSpPr/>
          <p:nvPr/>
        </p:nvSpPr>
        <p:spPr>
          <a:xfrm>
            <a:off x="432197" y="2408309"/>
            <a:ext cx="1655899" cy="775795"/>
          </a:xfrm>
          <a:prstGeom prst="rect">
            <a:avLst/>
          </a:prstGeom>
          <a:solidFill>
            <a:srgbClr val="F0F8FC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8"/>
          <p:cNvSpPr/>
          <p:nvPr/>
        </p:nvSpPr>
        <p:spPr>
          <a:xfrm>
            <a:off x="432197" y="2408309"/>
            <a:ext cx="1655899" cy="77579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2C5F7C"/>
                </a:solidFill>
              </a:rPr>
              <a:t>Stimuler la Mémoire</a:t>
            </a:r>
            <a:endParaRPr lang="en-US" sz="885" dirty="0"/>
          </a:p>
        </p:txBody>
      </p:sp>
      <p:sp>
        <p:nvSpPr>
          <p:cNvPr id="22" name="Text 19"/>
          <p:cNvSpPr/>
          <p:nvPr/>
        </p:nvSpPr>
        <p:spPr>
          <a:xfrm>
            <a:off x="2305980" y="2485104"/>
            <a:ext cx="145433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2C5F7C"/>
                </a:solidFill>
              </a:rPr>
              <a:t>Ateliers réminiscence :</a:t>
            </a:r>
            <a:endParaRPr lang="en-US" sz="885" dirty="0"/>
          </a:p>
        </p:txBody>
      </p:sp>
      <p:sp>
        <p:nvSpPr>
          <p:cNvPr id="23" name="Text 20"/>
          <p:cNvSpPr/>
          <p:nvPr/>
        </p:nvSpPr>
        <p:spPr>
          <a:xfrm>
            <a:off x="2303134" y="2620472"/>
            <a:ext cx="2891461" cy="355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Objets d'antan, photos, musiques d'époque.</a:t>
            </a:r>
            <a:endParaRPr lang="en-US" sz="942" dirty="0"/>
          </a:p>
        </p:txBody>
      </p:sp>
      <p:sp>
        <p:nvSpPr>
          <p:cNvPr id="24" name="Text 21"/>
          <p:cNvSpPr/>
          <p:nvPr/>
        </p:nvSpPr>
        <p:spPr>
          <a:xfrm>
            <a:off x="2305980" y="2888000"/>
            <a:ext cx="102549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2C5F7C"/>
                </a:solidFill>
              </a:rPr>
              <a:t>Jeux sensoriels :</a:t>
            </a:r>
            <a:endParaRPr lang="en-US" sz="885" dirty="0"/>
          </a:p>
        </p:txBody>
      </p:sp>
      <p:sp>
        <p:nvSpPr>
          <p:cNvPr id="25" name="Text 22"/>
          <p:cNvSpPr/>
          <p:nvPr/>
        </p:nvSpPr>
        <p:spPr>
          <a:xfrm>
            <a:off x="3331471" y="2888000"/>
            <a:ext cx="230673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Reconnaître des odeurs, des textures.</a:t>
            </a:r>
            <a:endParaRPr lang="en-US" sz="942" dirty="0"/>
          </a:p>
        </p:txBody>
      </p:sp>
      <p:sp>
        <p:nvSpPr>
          <p:cNvPr id="26" name="Text 23"/>
          <p:cNvSpPr/>
          <p:nvPr/>
        </p:nvSpPr>
        <p:spPr>
          <a:xfrm>
            <a:off x="5813896" y="2408309"/>
            <a:ext cx="2897907" cy="77579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i="1" dirty="0">
                <a:solidFill>
                  <a:srgbClr val="555555"/>
                </a:solidFill>
              </a:rPr>
              <a:t>Valorisez la mémoire ancienne (ce qu'ils savent) plutôt que la mémoire immédiate (ce qu'ils oublient).</a:t>
            </a:r>
            <a:endParaRPr lang="en-US" sz="942" dirty="0"/>
          </a:p>
        </p:txBody>
      </p:sp>
      <p:sp>
        <p:nvSpPr>
          <p:cNvPr id="27" name="Shape 24"/>
          <p:cNvSpPr/>
          <p:nvPr/>
        </p:nvSpPr>
        <p:spPr>
          <a:xfrm>
            <a:off x="432197" y="3184103"/>
            <a:ext cx="1655899" cy="775795"/>
          </a:xfrm>
          <a:prstGeom prst="rect">
            <a:avLst/>
          </a:prstGeom>
          <a:solidFill>
            <a:srgbClr val="F0F8FC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5"/>
          <p:cNvSpPr/>
          <p:nvPr/>
        </p:nvSpPr>
        <p:spPr>
          <a:xfrm>
            <a:off x="432197" y="3184103"/>
            <a:ext cx="1655899" cy="77579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2C5F7C"/>
                </a:solidFill>
              </a:rPr>
              <a:t>Maintenir l'Autonomie</a:t>
            </a:r>
            <a:endParaRPr lang="en-US" sz="885" dirty="0"/>
          </a:p>
        </p:txBody>
      </p:sp>
      <p:sp>
        <p:nvSpPr>
          <p:cNvPr id="29" name="Text 26"/>
          <p:cNvSpPr/>
          <p:nvPr/>
        </p:nvSpPr>
        <p:spPr>
          <a:xfrm>
            <a:off x="2305980" y="3260899"/>
            <a:ext cx="135312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2C5F7C"/>
                </a:solidFill>
              </a:rPr>
              <a:t>Gestes du quotidien :</a:t>
            </a:r>
            <a:endParaRPr lang="en-US" sz="885" dirty="0"/>
          </a:p>
        </p:txBody>
      </p:sp>
      <p:sp>
        <p:nvSpPr>
          <p:cNvPr id="30" name="Text 27"/>
          <p:cNvSpPr/>
          <p:nvPr/>
        </p:nvSpPr>
        <p:spPr>
          <a:xfrm>
            <a:off x="2303134" y="3396266"/>
            <a:ext cx="3168532" cy="355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Épluchage (cuisine), pliage de linge, petit jardinage.</a:t>
            </a:r>
            <a:endParaRPr lang="en-US" sz="942" dirty="0"/>
          </a:p>
        </p:txBody>
      </p:sp>
      <p:sp>
        <p:nvSpPr>
          <p:cNvPr id="31" name="Text 28"/>
          <p:cNvSpPr/>
          <p:nvPr/>
        </p:nvSpPr>
        <p:spPr>
          <a:xfrm>
            <a:off x="2305980" y="3663795"/>
            <a:ext cx="16761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2C5F7C"/>
                </a:solidFill>
              </a:rPr>
              <a:t>Ateliers manuels simples :</a:t>
            </a:r>
            <a:endParaRPr lang="en-US" sz="885" dirty="0"/>
          </a:p>
        </p:txBody>
      </p:sp>
      <p:sp>
        <p:nvSpPr>
          <p:cNvPr id="32" name="Text 29"/>
          <p:cNvSpPr/>
          <p:nvPr/>
        </p:nvSpPr>
        <p:spPr>
          <a:xfrm>
            <a:off x="3982138" y="3663795"/>
            <a:ext cx="162548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Collage, peinture adaptée.</a:t>
            </a:r>
            <a:endParaRPr lang="en-US" sz="942" dirty="0"/>
          </a:p>
        </p:txBody>
      </p:sp>
      <p:sp>
        <p:nvSpPr>
          <p:cNvPr id="33" name="Text 30"/>
          <p:cNvSpPr/>
          <p:nvPr/>
        </p:nvSpPr>
        <p:spPr>
          <a:xfrm>
            <a:off x="5813896" y="3184103"/>
            <a:ext cx="2897907" cy="77579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i="1" dirty="0">
                <a:solidFill>
                  <a:srgbClr val="555555"/>
                </a:solidFill>
              </a:rPr>
              <a:t>"Faire avec" et non "faire à la place". Soyez patient, laissez le temps au geste de se faire.</a:t>
            </a:r>
            <a:endParaRPr lang="en-US" sz="942" dirty="0"/>
          </a:p>
        </p:txBody>
      </p:sp>
      <p:sp>
        <p:nvSpPr>
          <p:cNvPr id="34" name="Shape 31"/>
          <p:cNvSpPr/>
          <p:nvPr/>
        </p:nvSpPr>
        <p:spPr>
          <a:xfrm>
            <a:off x="432197" y="3959898"/>
            <a:ext cx="8279606" cy="595778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Shape 32"/>
          <p:cNvSpPr/>
          <p:nvPr/>
        </p:nvSpPr>
        <p:spPr>
          <a:xfrm>
            <a:off x="432197" y="3959898"/>
            <a:ext cx="1655899" cy="595778"/>
          </a:xfrm>
          <a:prstGeom prst="rect">
            <a:avLst/>
          </a:prstGeom>
          <a:solidFill>
            <a:srgbClr val="F0F8FC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3"/>
          <p:cNvSpPr/>
          <p:nvPr/>
        </p:nvSpPr>
        <p:spPr>
          <a:xfrm>
            <a:off x="432197" y="3959898"/>
            <a:ext cx="1655899" cy="59577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2C5F7C"/>
                </a:solidFill>
              </a:rPr>
              <a:t>Rompre l'Isolement</a:t>
            </a:r>
            <a:endParaRPr lang="en-US" sz="885" dirty="0"/>
          </a:p>
        </p:txBody>
      </p:sp>
      <p:sp>
        <p:nvSpPr>
          <p:cNvPr id="37" name="Text 34"/>
          <p:cNvSpPr/>
          <p:nvPr/>
        </p:nvSpPr>
        <p:spPr>
          <a:xfrm>
            <a:off x="2303134" y="4036693"/>
            <a:ext cx="155167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2C5F7C"/>
                </a:solidFill>
              </a:rPr>
              <a:t>Jeux de société simples :</a:t>
            </a:r>
            <a:endParaRPr lang="en-US" sz="885" dirty="0"/>
          </a:p>
        </p:txBody>
      </p:sp>
      <p:sp>
        <p:nvSpPr>
          <p:cNvPr id="38" name="Text 35"/>
          <p:cNvSpPr/>
          <p:nvPr/>
        </p:nvSpPr>
        <p:spPr>
          <a:xfrm>
            <a:off x="3854807" y="4036693"/>
            <a:ext cx="158499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Loto, dominos, triominos.</a:t>
            </a:r>
            <a:endParaRPr lang="en-US" sz="942" dirty="0"/>
          </a:p>
        </p:txBody>
      </p:sp>
      <p:sp>
        <p:nvSpPr>
          <p:cNvPr id="39" name="Text 36"/>
          <p:cNvSpPr/>
          <p:nvPr/>
        </p:nvSpPr>
        <p:spPr>
          <a:xfrm>
            <a:off x="2303134" y="4259573"/>
            <a:ext cx="89073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2C5F7C"/>
                </a:solidFill>
              </a:rPr>
              <a:t>Chant choral :</a:t>
            </a:r>
            <a:endParaRPr lang="en-US" sz="885" dirty="0"/>
          </a:p>
        </p:txBody>
      </p:sp>
      <p:sp>
        <p:nvSpPr>
          <p:cNvPr id="40" name="Text 37"/>
          <p:cNvSpPr/>
          <p:nvPr/>
        </p:nvSpPr>
        <p:spPr>
          <a:xfrm>
            <a:off x="3193870" y="4259573"/>
            <a:ext cx="160067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Répertoire connu de tous.</a:t>
            </a:r>
            <a:endParaRPr lang="en-US" sz="942" dirty="0"/>
          </a:p>
        </p:txBody>
      </p:sp>
      <p:sp>
        <p:nvSpPr>
          <p:cNvPr id="41" name="Text 38"/>
          <p:cNvSpPr/>
          <p:nvPr/>
        </p:nvSpPr>
        <p:spPr>
          <a:xfrm>
            <a:off x="5812668" y="3959898"/>
            <a:ext cx="2899135" cy="59577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i="1" dirty="0">
                <a:solidFill>
                  <a:srgbClr val="555555"/>
                </a:solidFill>
              </a:rPr>
              <a:t>Privilégiez les petits groupes. Parlez fort et clair (en face). Créez une ambiance conviviale.</a:t>
            </a:r>
            <a:endParaRPr lang="en-US" sz="94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285750"/>
            <a:ext cx="8286750" cy="91099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428625" y="1168171"/>
            <a:ext cx="8286750" cy="28575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428625" y="486752"/>
            <a:ext cx="8286750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2C5F7C"/>
                </a:solidFill>
              </a:rPr>
              <a:t>Erreurs à Éviter</a:t>
            </a:r>
            <a:endParaRPr lang="en-US" sz="2121" dirty="0"/>
          </a:p>
        </p:txBody>
      </p:sp>
      <p:sp>
        <p:nvSpPr>
          <p:cNvPr id="6" name="Shape 3"/>
          <p:cNvSpPr/>
          <p:nvPr/>
        </p:nvSpPr>
        <p:spPr>
          <a:xfrm>
            <a:off x="428625" y="1453921"/>
            <a:ext cx="4057650" cy="1265504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428625" y="1453921"/>
            <a:ext cx="42863" cy="1265504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213" y="1756637"/>
            <a:ext cx="28575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28688" y="1753958"/>
            <a:ext cx="181225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C5F7C"/>
                </a:solidFill>
              </a:rPr>
              <a:t>Le bruit et l'agitation</a:t>
            </a:r>
            <a:endParaRPr lang="en-US" sz="1193" dirty="0"/>
          </a:p>
        </p:txBody>
      </p:sp>
      <p:sp>
        <p:nvSpPr>
          <p:cNvPr id="10" name="Text 6"/>
          <p:cNvSpPr/>
          <p:nvPr/>
        </p:nvSpPr>
        <p:spPr>
          <a:xfrm>
            <a:off x="557213" y="2230803"/>
            <a:ext cx="380047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Les environnements bruyants créent de la confusion et de l'anxiété. Privilégier le calme et une seule consigne à la fois.</a:t>
            </a:r>
            <a:endParaRPr lang="en-US" sz="942" dirty="0"/>
          </a:p>
        </p:txBody>
      </p:sp>
      <p:sp>
        <p:nvSpPr>
          <p:cNvPr id="11" name="Shape 7"/>
          <p:cNvSpPr/>
          <p:nvPr/>
        </p:nvSpPr>
        <p:spPr>
          <a:xfrm>
            <a:off x="4657725" y="1453921"/>
            <a:ext cx="4057650" cy="1265504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8"/>
          <p:cNvSpPr/>
          <p:nvPr/>
        </p:nvSpPr>
        <p:spPr>
          <a:xfrm>
            <a:off x="4657725" y="1453921"/>
            <a:ext cx="42863" cy="1265504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6313" y="1756637"/>
            <a:ext cx="28575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157788" y="1753958"/>
            <a:ext cx="84045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C5F7C"/>
                </a:solidFill>
              </a:rPr>
              <a:t>L'imprévu</a:t>
            </a:r>
            <a:endParaRPr lang="en-US" sz="1193" dirty="0"/>
          </a:p>
        </p:txBody>
      </p:sp>
      <p:sp>
        <p:nvSpPr>
          <p:cNvPr id="15" name="Text 10"/>
          <p:cNvSpPr/>
          <p:nvPr/>
        </p:nvSpPr>
        <p:spPr>
          <a:xfrm>
            <a:off x="4786313" y="2230803"/>
            <a:ext cx="380047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La routine est un repère structurant. Tout changement de lieu, d'horaire ou d'animateur doit être anticipé et expliqué.</a:t>
            </a:r>
            <a:endParaRPr lang="en-US" sz="942" dirty="0"/>
          </a:p>
        </p:txBody>
      </p:sp>
      <p:sp>
        <p:nvSpPr>
          <p:cNvPr id="16" name="Shape 11"/>
          <p:cNvSpPr/>
          <p:nvPr/>
        </p:nvSpPr>
        <p:spPr>
          <a:xfrm>
            <a:off x="428625" y="2890875"/>
            <a:ext cx="4057650" cy="1265504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2"/>
          <p:cNvSpPr/>
          <p:nvPr/>
        </p:nvSpPr>
        <p:spPr>
          <a:xfrm>
            <a:off x="428625" y="2890875"/>
            <a:ext cx="42863" cy="1265504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213" y="3193591"/>
            <a:ext cx="285750" cy="2286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28688" y="3190912"/>
            <a:ext cx="128967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C5F7C"/>
                </a:solidFill>
              </a:rPr>
              <a:t>La compétition</a:t>
            </a:r>
            <a:endParaRPr lang="en-US" sz="1193" dirty="0"/>
          </a:p>
        </p:txBody>
      </p:sp>
      <p:sp>
        <p:nvSpPr>
          <p:cNvPr id="20" name="Text 14"/>
          <p:cNvSpPr/>
          <p:nvPr/>
        </p:nvSpPr>
        <p:spPr>
          <a:xfrm>
            <a:off x="557213" y="3667758"/>
            <a:ext cx="380047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Éviter les situations d'échec public. Privilégier la coopération et le plaisir de faire ensemble plutôt que le résultat.</a:t>
            </a:r>
            <a:endParaRPr lang="en-US" sz="942" dirty="0"/>
          </a:p>
        </p:txBody>
      </p:sp>
      <p:sp>
        <p:nvSpPr>
          <p:cNvPr id="21" name="Shape 15"/>
          <p:cNvSpPr/>
          <p:nvPr/>
        </p:nvSpPr>
        <p:spPr>
          <a:xfrm>
            <a:off x="4657725" y="2890875"/>
            <a:ext cx="4057650" cy="1265504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Shape 16"/>
          <p:cNvSpPr/>
          <p:nvPr/>
        </p:nvSpPr>
        <p:spPr>
          <a:xfrm>
            <a:off x="4657725" y="2890875"/>
            <a:ext cx="42863" cy="1265504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6313" y="3193591"/>
            <a:ext cx="285750" cy="2286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157788" y="3190912"/>
            <a:ext cx="134176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C5F7C"/>
                </a:solidFill>
              </a:rPr>
              <a:t>L'infantilisation</a:t>
            </a:r>
            <a:endParaRPr lang="en-US" sz="1193" dirty="0"/>
          </a:p>
        </p:txBody>
      </p:sp>
      <p:sp>
        <p:nvSpPr>
          <p:cNvPr id="25" name="Text 18"/>
          <p:cNvSpPr/>
          <p:nvPr/>
        </p:nvSpPr>
        <p:spPr>
          <a:xfrm>
            <a:off x="4786313" y="3667758"/>
            <a:ext cx="380047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Attention au vocabulaire ("ma petite dame", "on a fait pipi ?") et aux attitudes maternelles. Préserver leur dignité.</a:t>
            </a:r>
            <a:endParaRPr lang="en-US" sz="94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659</Words>
  <Application>Microsoft Macintosh PowerPoint</Application>
  <PresentationFormat>Affichage à l'écran (16:9)</PresentationFormat>
  <Paragraphs>87</Paragraphs>
  <Slides>6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8" baseType="lpstr"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Mourad LAFKI</cp:lastModifiedBy>
  <cp:revision>1</cp:revision>
  <dcterms:created xsi:type="dcterms:W3CDTF">2026-02-09T15:56:01Z</dcterms:created>
  <dcterms:modified xsi:type="dcterms:W3CDTF">2026-02-09T18:02:22Z</dcterms:modified>
</cp:coreProperties>
</file>