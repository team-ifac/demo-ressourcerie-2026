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FF587C-FB62-E54A-BB27-39A7F48ECA81}" v="10" dt="2026-02-09T18:15:22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20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rad LAFKI" userId="dfa4d173-53d8-4360-a1b9-ffb24f3fe85a" providerId="ADAL" clId="{35CC046D-1F76-53F2-AE37-4F4D4D6BB759}"/>
    <pc:docChg chg="undo redo custSel modSld">
      <pc:chgData name="Mourad LAFKI" userId="dfa4d173-53d8-4360-a1b9-ffb24f3fe85a" providerId="ADAL" clId="{35CC046D-1F76-53F2-AE37-4F4D4D6BB759}" dt="2026-02-09T18:22:50.705" v="43" actId="1076"/>
      <pc:docMkLst>
        <pc:docMk/>
      </pc:docMkLst>
      <pc:sldChg chg="delSp modSp mod">
        <pc:chgData name="Mourad LAFKI" userId="dfa4d173-53d8-4360-a1b9-ffb24f3fe85a" providerId="ADAL" clId="{35CC046D-1F76-53F2-AE37-4F4D4D6BB759}" dt="2026-02-09T18:12:49.038" v="2"/>
        <pc:sldMkLst>
          <pc:docMk/>
          <pc:sldMk cId="0" sldId="257"/>
        </pc:sldMkLst>
        <pc:spChg chg="mod">
          <ac:chgData name="Mourad LAFKI" userId="dfa4d173-53d8-4360-a1b9-ffb24f3fe85a" providerId="ADAL" clId="{35CC046D-1F76-53F2-AE37-4F4D4D6BB759}" dt="2026-02-09T18:12:49.038" v="2"/>
          <ac:spMkLst>
            <pc:docMk/>
            <pc:sldMk cId="0" sldId="257"/>
            <ac:spMk id="6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8:12:46.393" v="0" actId="478"/>
          <ac:spMkLst>
            <pc:docMk/>
            <pc:sldMk cId="0" sldId="257"/>
            <ac:spMk id="7" creationId="{00000000-0000-0000-0000-000000000000}"/>
          </ac:spMkLst>
        </pc:spChg>
      </pc:sldChg>
      <pc:sldChg chg="delSp modSp mod">
        <pc:chgData name="Mourad LAFKI" userId="dfa4d173-53d8-4360-a1b9-ffb24f3fe85a" providerId="ADAL" clId="{35CC046D-1F76-53F2-AE37-4F4D4D6BB759}" dt="2026-02-09T18:20:59.425" v="37" actId="20577"/>
        <pc:sldMkLst>
          <pc:docMk/>
          <pc:sldMk cId="0" sldId="258"/>
        </pc:sldMkLst>
        <pc:spChg chg="mod">
          <ac:chgData name="Mourad LAFKI" userId="dfa4d173-53d8-4360-a1b9-ffb24f3fe85a" providerId="ADAL" clId="{35CC046D-1F76-53F2-AE37-4F4D4D6BB759}" dt="2026-02-09T18:14:09.593" v="7" actId="20577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8:14:03.517" v="4" actId="478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14:48.133" v="20" actId="20577"/>
          <ac:spMkLst>
            <pc:docMk/>
            <pc:sldMk cId="0" sldId="258"/>
            <ac:spMk id="18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8:14:33.552" v="16" actId="478"/>
          <ac:spMkLst>
            <pc:docMk/>
            <pc:sldMk cId="0" sldId="258"/>
            <ac:spMk id="19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8:14:43.527" v="18" actId="478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14:18.959" v="11" actId="20577"/>
          <ac:spMkLst>
            <pc:docMk/>
            <pc:sldMk cId="0" sldId="258"/>
            <ac:spMk id="25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8:14:13.797" v="8" actId="47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15:05.526" v="26" actId="20577"/>
          <ac:spMkLst>
            <pc:docMk/>
            <pc:sldMk cId="0" sldId="258"/>
            <ac:spMk id="27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8:14:54.512" v="21" actId="478"/>
          <ac:spMkLst>
            <pc:docMk/>
            <pc:sldMk cId="0" sldId="258"/>
            <ac:spMk id="28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8:15:01.673" v="23" actId="478"/>
          <ac:spMkLst>
            <pc:docMk/>
            <pc:sldMk cId="0" sldId="258"/>
            <ac:spMk id="29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14:27.483" v="15" actId="20577"/>
          <ac:spMkLst>
            <pc:docMk/>
            <pc:sldMk cId="0" sldId="258"/>
            <ac:spMk id="33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8:14:23.172" v="12" actId="478"/>
          <ac:spMkLst>
            <pc:docMk/>
            <pc:sldMk cId="0" sldId="258"/>
            <ac:spMk id="34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20:59.425" v="37" actId="20577"/>
          <ac:spMkLst>
            <pc:docMk/>
            <pc:sldMk cId="0" sldId="258"/>
            <ac:spMk id="35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8:15:12.288" v="27" actId="478"/>
          <ac:spMkLst>
            <pc:docMk/>
            <pc:sldMk cId="0" sldId="258"/>
            <ac:spMk id="36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8:15:18.365" v="29" actId="478"/>
          <ac:spMkLst>
            <pc:docMk/>
            <pc:sldMk cId="0" sldId="258"/>
            <ac:spMk id="37" creationId="{00000000-0000-0000-0000-000000000000}"/>
          </ac:spMkLst>
        </pc:spChg>
      </pc:sldChg>
      <pc:sldChg chg="modSp mod">
        <pc:chgData name="Mourad LAFKI" userId="dfa4d173-53d8-4360-a1b9-ffb24f3fe85a" providerId="ADAL" clId="{35CC046D-1F76-53F2-AE37-4F4D4D6BB759}" dt="2026-02-09T18:20:56.090" v="35" actId="108"/>
        <pc:sldMkLst>
          <pc:docMk/>
          <pc:sldMk cId="0" sldId="259"/>
        </pc:sldMkLst>
        <pc:spChg chg="mod">
          <ac:chgData name="Mourad LAFKI" userId="dfa4d173-53d8-4360-a1b9-ffb24f3fe85a" providerId="ADAL" clId="{35CC046D-1F76-53F2-AE37-4F4D4D6BB759}" dt="2026-02-09T18:20:56.090" v="35" actId="108"/>
          <ac:spMkLst>
            <pc:docMk/>
            <pc:sldMk cId="0" sldId="259"/>
            <ac:spMk id="41" creationId="{00000000-0000-0000-0000-000000000000}"/>
          </ac:spMkLst>
        </pc:spChg>
      </pc:sldChg>
      <pc:sldChg chg="modSp mod">
        <pc:chgData name="Mourad LAFKI" userId="dfa4d173-53d8-4360-a1b9-ffb24f3fe85a" providerId="ADAL" clId="{35CC046D-1F76-53F2-AE37-4F4D4D6BB759}" dt="2026-02-09T18:22:50.705" v="43" actId="1076"/>
        <pc:sldMkLst>
          <pc:docMk/>
          <pc:sldMk cId="0" sldId="260"/>
        </pc:sldMkLst>
        <pc:spChg chg="mod">
          <ac:chgData name="Mourad LAFKI" userId="dfa4d173-53d8-4360-a1b9-ffb24f3fe85a" providerId="ADAL" clId="{35CC046D-1F76-53F2-AE37-4F4D4D6BB759}" dt="2026-02-09T18:22:39.079" v="40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22:43.201" v="41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22:47.531" v="42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8:22:50.705" v="43" actId="1076"/>
          <ac:spMkLst>
            <pc:docMk/>
            <pc:sldMk cId="0" sldId="260"/>
            <ac:spMk id="32" creationId="{00000000-0000-0000-0000-000000000000}"/>
          </ac:spMkLst>
        </pc:spChg>
        <pc:picChg chg="mod">
          <ac:chgData name="Mourad LAFKI" userId="dfa4d173-53d8-4360-a1b9-ffb24f3fe85a" providerId="ADAL" clId="{35CC046D-1F76-53F2-AE37-4F4D4D6BB759}" dt="2026-02-09T18:22:35.736" v="39" actId="1076"/>
          <ac:picMkLst>
            <pc:docMk/>
            <pc:sldMk cId="0" sldId="260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0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80429" y="1810857"/>
            <a:ext cx="3983143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2C5F7C"/>
                </a:solidFill>
              </a:rPr>
              <a:t>Fiche-Ressource :
Les 85 ans et plus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057372" y="3240695"/>
            <a:ext cx="502922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A9FBD"/>
                </a:solidFill>
              </a:rPr>
              <a:t>Les "Grands Seniors" ou "Grande Dépendance"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2659819" y="4182666"/>
            <a:ext cx="38243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Date : 31 janvier 2026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659819" y="4520208"/>
            <a:ext cx="38243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Pour : Animateurs, formateurs et porteurs de projets Ifac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970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571500" y="1497062"/>
            <a:ext cx="800100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658341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5F7C"/>
                </a:solidFill>
              </a:rPr>
              <a:t>Introduction : L'essentiel est ailleurs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2097137"/>
            <a:ext cx="4389109" cy="1665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À ce stade, la </a:t>
            </a:r>
            <a:r>
              <a:rPr lang="en-US" sz="1193" b="1" dirty="0">
                <a:solidFill>
                  <a:srgbClr val="333333"/>
                </a:solidFill>
              </a:rPr>
              <a:t>dépendance</a:t>
            </a:r>
            <a:r>
              <a:rPr lang="en-US" sz="1269" dirty="0">
                <a:solidFill>
                  <a:srgbClr val="333333"/>
                </a:solidFill>
              </a:rPr>
              <a:t> est souvent installée. Les troubles cognitifs peuvent être sévères, rendant la communication verbale difficile. Le corps est fatigué, les sens sont </a:t>
            </a:r>
            <a:r>
              <a:rPr lang="en-US" sz="1269" dirty="0" err="1">
                <a:solidFill>
                  <a:srgbClr val="333333"/>
                </a:solidFill>
              </a:rPr>
              <a:t>altérés</a:t>
            </a:r>
            <a:r>
              <a:rPr lang="en-US" sz="1269" dirty="0">
                <a:solidFill>
                  <a:srgbClr val="333333"/>
                </a:solidFill>
              </a:rPr>
              <a:t>.</a:t>
            </a:r>
          </a:p>
          <a:p>
            <a:pPr algn="just">
              <a:lnSpc>
                <a:spcPts val="2200"/>
              </a:lnSpc>
            </a:pPr>
            <a:r>
              <a:rPr lang="en-US" sz="1269" dirty="0" err="1">
                <a:solidFill>
                  <a:srgbClr val="333333"/>
                </a:solidFill>
              </a:rPr>
              <a:t>Pourtant</a:t>
            </a:r>
            <a:r>
              <a:rPr lang="en-US" sz="1269" dirty="0">
                <a:solidFill>
                  <a:srgbClr val="333333"/>
                </a:solidFill>
              </a:rPr>
              <a:t>, la vie </a:t>
            </a:r>
            <a:r>
              <a:rPr lang="en-US" sz="1269" dirty="0" err="1">
                <a:solidFill>
                  <a:srgbClr val="333333"/>
                </a:solidFill>
              </a:rPr>
              <a:t>émotionnelle</a:t>
            </a:r>
            <a:r>
              <a:rPr lang="en-US" sz="1269" dirty="0">
                <a:solidFill>
                  <a:srgbClr val="333333"/>
                </a:solidFill>
              </a:rPr>
              <a:t> </a:t>
            </a:r>
            <a:r>
              <a:rPr lang="en-US" sz="1269" dirty="0" err="1">
                <a:solidFill>
                  <a:srgbClr val="333333"/>
                </a:solidFill>
              </a:rPr>
              <a:t>reste</a:t>
            </a:r>
            <a:r>
              <a:rPr lang="en-US" sz="1269" dirty="0">
                <a:solidFill>
                  <a:srgbClr val="333333"/>
                </a:solidFill>
              </a:rPr>
              <a:t> intense. </a:t>
            </a:r>
            <a:r>
              <a:rPr lang="en-US" sz="1269" dirty="0" err="1">
                <a:solidFill>
                  <a:srgbClr val="333333"/>
                </a:solidFill>
              </a:rPr>
              <a:t>C'est</a:t>
            </a:r>
            <a:r>
              <a:rPr lang="en-US" sz="1269" dirty="0">
                <a:solidFill>
                  <a:srgbClr val="333333"/>
                </a:solidFill>
              </a:rPr>
              <a:t> le temps du </a:t>
            </a:r>
            <a:r>
              <a:rPr lang="en-US" sz="1269" dirty="0" err="1">
                <a:solidFill>
                  <a:srgbClr val="333333"/>
                </a:solidFill>
              </a:rPr>
              <a:t>sensoriel</a:t>
            </a:r>
            <a:r>
              <a:rPr lang="en-US" sz="1269" dirty="0">
                <a:solidFill>
                  <a:srgbClr val="333333"/>
                </a:solidFill>
              </a:rPr>
              <a:t>, du toucher, du regard et de la </a:t>
            </a:r>
            <a:r>
              <a:rPr lang="en-US" sz="1269" dirty="0" err="1">
                <a:solidFill>
                  <a:srgbClr val="333333"/>
                </a:solidFill>
              </a:rPr>
              <a:t>présence</a:t>
            </a:r>
            <a:r>
              <a:rPr lang="en-US" sz="1269" dirty="0">
                <a:solidFill>
                  <a:srgbClr val="333333"/>
                </a:solidFill>
              </a:rPr>
              <a:t> pure.</a:t>
            </a:r>
            <a:endParaRPr lang="en-US" sz="1269" dirty="0"/>
          </a:p>
          <a:p>
            <a:pPr marL="0" indent="0" algn="just">
              <a:lnSpc>
                <a:spcPts val="2200"/>
              </a:lnSpc>
              <a:buNone/>
            </a:pP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5246359" y="1925687"/>
            <a:ext cx="3326141" cy="2073473"/>
          </a:xfrm>
          <a:prstGeom prst="rect">
            <a:avLst/>
          </a:prstGeom>
          <a:solidFill>
            <a:srgbClr val="F0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246359" y="1925687"/>
            <a:ext cx="57150" cy="2073473"/>
          </a:xfrm>
          <a:prstGeom prst="rect">
            <a:avLst/>
          </a:prstGeom>
          <a:solidFill>
            <a:srgbClr val="5A9FB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52104" y="2297162"/>
            <a:ext cx="294894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C5F7C"/>
                </a:solidFill>
              </a:rPr>
              <a:t>💡 Le défi de l'animateur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5452104" y="2727573"/>
            <a:ext cx="2948946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Comprendre que l'activité (le "faire") n'est plus le but. Le but est la </a:t>
            </a:r>
            <a:r>
              <a:rPr lang="en-US" sz="1090" b="1" dirty="0">
                <a:solidFill>
                  <a:srgbClr val="F4A261"/>
                </a:solidFill>
              </a:rPr>
              <a:t>relation</a:t>
            </a:r>
            <a:r>
              <a:rPr lang="en-US" sz="1159" dirty="0">
                <a:solidFill>
                  <a:srgbClr val="555555"/>
                </a:solidFill>
              </a:rPr>
              <a:t>, l'</a:t>
            </a:r>
            <a:r>
              <a:rPr lang="en-US" sz="1090" b="1" dirty="0">
                <a:solidFill>
                  <a:srgbClr val="F4A261"/>
                </a:solidFill>
              </a:rPr>
              <a:t>émotion</a:t>
            </a:r>
            <a:r>
              <a:rPr lang="en-US" sz="1159" dirty="0">
                <a:solidFill>
                  <a:srgbClr val="555555"/>
                </a:solidFill>
              </a:rPr>
              <a:t> partagée et le </a:t>
            </a:r>
            <a:r>
              <a:rPr lang="en-US" sz="1090" b="1" dirty="0">
                <a:solidFill>
                  <a:srgbClr val="F4A261"/>
                </a:solidFill>
              </a:rPr>
              <a:t>confort</a:t>
            </a:r>
            <a:r>
              <a:rPr lang="en-US" sz="1159" dirty="0">
                <a:solidFill>
                  <a:srgbClr val="555555"/>
                </a:solidFill>
              </a:rPr>
              <a:t> de l'instant.</a:t>
            </a:r>
            <a:endParaRPr lang="en-US" sz="11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Caractéristiques Générales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32197" y="1386055"/>
            <a:ext cx="1241924" cy="396478"/>
          </a:xfrm>
          <a:prstGeom prst="rect">
            <a:avLst/>
          </a:prstGeom>
          <a:solidFill>
            <a:srgbClr val="F0F8F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32197" y="1386055"/>
            <a:ext cx="1241924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Domaine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1674121" y="1386055"/>
            <a:ext cx="2483876" cy="396478"/>
          </a:xfrm>
          <a:prstGeom prst="rect">
            <a:avLst/>
          </a:prstGeom>
          <a:solidFill>
            <a:srgbClr val="2C5F7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674121" y="1386055"/>
            <a:ext cx="2483876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Caractéristiques &amp; Capacités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4157997" y="1386055"/>
            <a:ext cx="2069902" cy="396478"/>
          </a:xfrm>
          <a:prstGeom prst="rect">
            <a:avLst/>
          </a:prstGeom>
          <a:solidFill>
            <a:srgbClr val="2C5F7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157997" y="1386055"/>
            <a:ext cx="2069902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Limites &amp; Fragilités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6227899" y="1386055"/>
            <a:ext cx="2483904" cy="396478"/>
          </a:xfrm>
          <a:prstGeom prst="rect">
            <a:avLst/>
          </a:prstGeom>
          <a:solidFill>
            <a:srgbClr val="2C5F7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227899" y="1386055"/>
            <a:ext cx="2483904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555555"/>
                </a:solidFill>
              </a:rPr>
              <a:t>Exemple Concret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432197" y="1775389"/>
            <a:ext cx="1241924" cy="1048680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32197" y="1775389"/>
            <a:ext cx="1241924" cy="10486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Physique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927724" y="1886117"/>
            <a:ext cx="1320874" cy="346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Sensibilité au toucher</a:t>
            </a: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Réaction</a:t>
            </a:r>
            <a:r>
              <a:rPr lang="en-US" sz="942" dirty="0">
                <a:solidFill>
                  <a:srgbClr val="333333"/>
                </a:solidFill>
              </a:rPr>
              <a:t> à la musique/voix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411600" y="1886117"/>
            <a:ext cx="1705570" cy="52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Grande dépendance (fauteuil/lit) </a:t>
            </a:r>
            <a:r>
              <a:rPr lang="en-US" sz="942" dirty="0" err="1">
                <a:solidFill>
                  <a:srgbClr val="333333"/>
                </a:solidFill>
              </a:rPr>
              <a:t>Douleurs</a:t>
            </a:r>
            <a:r>
              <a:rPr lang="en-US" sz="942" dirty="0">
                <a:solidFill>
                  <a:srgbClr val="333333"/>
                </a:solidFill>
              </a:rPr>
              <a:t> chroniques</a:t>
            </a:r>
            <a:endParaRPr lang="en-US" sz="942" dirty="0"/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Fatigue </a:t>
            </a:r>
            <a:r>
              <a:rPr lang="en-US" sz="942" dirty="0" err="1">
                <a:solidFill>
                  <a:srgbClr val="333333"/>
                </a:solidFill>
              </a:rPr>
              <a:t>extrême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6227899" y="1775389"/>
            <a:ext cx="2483904" cy="10486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Ne peut plus se déplacer seul, s'endort rapidement, mais sourit quand on lui tient la main.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432197" y="2824069"/>
            <a:ext cx="8279606" cy="104868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32197" y="2824069"/>
            <a:ext cx="1241924" cy="1048680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32197" y="2824069"/>
            <a:ext cx="1241924" cy="10486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Cognitif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1927724" y="2934798"/>
            <a:ext cx="1401025" cy="346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Mémoire </a:t>
            </a:r>
            <a:r>
              <a:rPr lang="en-US" sz="942" dirty="0" err="1">
                <a:solidFill>
                  <a:srgbClr val="333333"/>
                </a:solidFill>
              </a:rPr>
              <a:t>émotionnelle</a:t>
            </a:r>
            <a:r>
              <a:rPr lang="en-US" sz="942" dirty="0">
                <a:solidFill>
                  <a:srgbClr val="333333"/>
                </a:solidFill>
              </a:rPr>
              <a:t> </a:t>
            </a:r>
            <a:r>
              <a:rPr lang="en-US" sz="942" dirty="0" err="1">
                <a:solidFill>
                  <a:srgbClr val="333333"/>
                </a:solidFill>
              </a:rPr>
              <a:t>vive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Communication non-verbale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4411600" y="2934798"/>
            <a:ext cx="1471557" cy="52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 err="1">
                <a:solidFill>
                  <a:srgbClr val="333333"/>
                </a:solidFill>
              </a:rPr>
              <a:t>Désorientation</a:t>
            </a:r>
            <a:r>
              <a:rPr lang="en-US" sz="942" dirty="0">
                <a:solidFill>
                  <a:srgbClr val="333333"/>
                </a:solidFill>
              </a:rPr>
              <a:t> </a:t>
            </a:r>
            <a:r>
              <a:rPr lang="en-US" sz="942" dirty="0" err="1">
                <a:solidFill>
                  <a:srgbClr val="333333"/>
                </a:solidFill>
              </a:rPr>
              <a:t>totale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Perte du </a:t>
            </a:r>
            <a:r>
              <a:rPr lang="en-US" sz="942" dirty="0" err="1">
                <a:solidFill>
                  <a:srgbClr val="333333"/>
                </a:solidFill>
              </a:rPr>
              <a:t>langage</a:t>
            </a:r>
            <a:r>
              <a:rPr lang="en-US" sz="942" dirty="0">
                <a:solidFill>
                  <a:srgbClr val="333333"/>
                </a:solidFill>
              </a:rPr>
              <a:t> (</a:t>
            </a:r>
            <a:r>
              <a:rPr lang="en-US" sz="942" dirty="0" err="1">
                <a:solidFill>
                  <a:srgbClr val="333333"/>
                </a:solidFill>
              </a:rPr>
              <a:t>aphasie</a:t>
            </a:r>
            <a:r>
              <a:rPr lang="en-US" sz="942" dirty="0">
                <a:solidFill>
                  <a:srgbClr val="333333"/>
                </a:solidFill>
              </a:rPr>
              <a:t>)</a:t>
            </a:r>
            <a:endParaRPr lang="en-US" sz="942" dirty="0"/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Troubles de la reconnaissance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6227899" y="2824069"/>
            <a:ext cx="2483904" cy="10486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Ne reconnaît plus ses enfants, ne parle plus, mais chantonne parfaitement une berceuse de son enfance.</a:t>
            </a:r>
            <a:endParaRPr lang="en-US" sz="942" dirty="0"/>
          </a:p>
        </p:txBody>
      </p:sp>
      <p:sp>
        <p:nvSpPr>
          <p:cNvPr id="31" name="Shape 28"/>
          <p:cNvSpPr/>
          <p:nvPr/>
        </p:nvSpPr>
        <p:spPr>
          <a:xfrm>
            <a:off x="432197" y="3872750"/>
            <a:ext cx="1241924" cy="868663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432197" y="3872750"/>
            <a:ext cx="1241924" cy="8686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Psycho-social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1924683" y="3983478"/>
            <a:ext cx="1274388" cy="346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Besoin de contact </a:t>
            </a:r>
            <a:r>
              <a:rPr lang="en-US" sz="942" dirty="0" err="1">
                <a:solidFill>
                  <a:srgbClr val="333333"/>
                </a:solidFill>
              </a:rPr>
              <a:t>humain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Sensibilité</a:t>
            </a:r>
            <a:r>
              <a:rPr lang="en-US" sz="942" dirty="0">
                <a:solidFill>
                  <a:srgbClr val="333333"/>
                </a:solidFill>
              </a:rPr>
              <a:t> à </a:t>
            </a:r>
            <a:r>
              <a:rPr lang="en-US" sz="942" dirty="0" err="1">
                <a:solidFill>
                  <a:srgbClr val="333333"/>
                </a:solidFill>
              </a:rPr>
              <a:t>l'ambiance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4409619" y="3983478"/>
            <a:ext cx="1106072" cy="52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 err="1">
                <a:solidFill>
                  <a:srgbClr val="333333"/>
                </a:solidFill>
              </a:rPr>
              <a:t>Isolement</a:t>
            </a:r>
            <a:r>
              <a:rPr lang="en-US" sz="942" dirty="0">
                <a:solidFill>
                  <a:srgbClr val="333333"/>
                </a:solidFill>
              </a:rPr>
              <a:t> sensorial</a:t>
            </a: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Angoisse</a:t>
            </a:r>
            <a:r>
              <a:rPr lang="en-US" sz="942" dirty="0">
                <a:solidFill>
                  <a:srgbClr val="333333"/>
                </a:solidFill>
              </a:rPr>
              <a:t> </a:t>
            </a:r>
            <a:r>
              <a:rPr lang="en-US" sz="942" dirty="0" err="1">
                <a:solidFill>
                  <a:srgbClr val="333333"/>
                </a:solidFill>
              </a:rPr>
              <a:t>d'abandon</a:t>
            </a:r>
            <a:endParaRPr lang="en-US" sz="942" dirty="0"/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Sentiment </a:t>
            </a:r>
            <a:r>
              <a:rPr lang="en-US" sz="942" dirty="0" err="1">
                <a:solidFill>
                  <a:srgbClr val="333333"/>
                </a:solidFill>
              </a:rPr>
              <a:t>d'insécurité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6226811" y="3872750"/>
            <a:ext cx="2484993" cy="8686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Crie ou s'agite par angoisse quand il se retrouve seul dans sa chambre sans bruit ni lumière.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Les Besoins Spécifiques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239608"/>
            <a:ext cx="4100513" cy="174128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239608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521994" y="1239608"/>
            <a:ext cx="7144" cy="174128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28625" y="2973753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28625" y="1239608"/>
            <a:ext cx="42863" cy="1741289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57213" y="1485174"/>
            <a:ext cx="342900" cy="3429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" y="1570899"/>
            <a:ext cx="214313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5838" y="1539646"/>
            <a:ext cx="14808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Confort Sensoriel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557213" y="2130791"/>
            <a:ext cx="38433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Le monde devient flou. Ils ont besoin de stimulations douces et agréables pour se sentir exister : musique apaisante, toucher bienveillant, odeurs rassurantes.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4614863" y="1239608"/>
            <a:ext cx="4100513" cy="174128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614863" y="1239608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8708231" y="1239608"/>
            <a:ext cx="7144" cy="174128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614863" y="2973753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614863" y="1239608"/>
            <a:ext cx="42863" cy="1741289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4743450" y="1485174"/>
            <a:ext cx="342900" cy="3429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570899"/>
            <a:ext cx="171450" cy="1714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72075" y="1539646"/>
            <a:ext cx="254724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Communication Émotionnelle</a:t>
            </a:r>
            <a:endParaRPr lang="en-US" sz="1193" dirty="0"/>
          </a:p>
        </p:txBody>
      </p:sp>
      <p:sp>
        <p:nvSpPr>
          <p:cNvPr id="23" name="Text 18"/>
          <p:cNvSpPr/>
          <p:nvPr/>
        </p:nvSpPr>
        <p:spPr>
          <a:xfrm>
            <a:off x="4743450" y="2130791"/>
            <a:ext cx="38433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Quand les mots manquent, l'émotion reste. Ils ont besoin de sentir la bienveillance dans le ton de la voix, le regard et l'attitude corporelle.</a:t>
            </a:r>
            <a:endParaRPr lang="en-US" sz="942" dirty="0"/>
          </a:p>
        </p:txBody>
      </p:sp>
      <p:sp>
        <p:nvSpPr>
          <p:cNvPr id="24" name="Shape 19"/>
          <p:cNvSpPr/>
          <p:nvPr/>
        </p:nvSpPr>
        <p:spPr>
          <a:xfrm>
            <a:off x="428625" y="3052335"/>
            <a:ext cx="4100513" cy="174128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428625" y="3052335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4521994" y="3052335"/>
            <a:ext cx="7144" cy="174128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428625" y="4786480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428625" y="3052335"/>
            <a:ext cx="42863" cy="1741289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4"/>
          <p:cNvSpPr/>
          <p:nvPr/>
        </p:nvSpPr>
        <p:spPr>
          <a:xfrm>
            <a:off x="557213" y="3297901"/>
            <a:ext cx="342900" cy="3429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" y="3383626"/>
            <a:ext cx="214313" cy="1714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85838" y="3352372"/>
            <a:ext cx="20227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Dignité et Estime de Soi</a:t>
            </a:r>
            <a:endParaRPr lang="en-US" sz="1193" dirty="0"/>
          </a:p>
        </p:txBody>
      </p:sp>
      <p:sp>
        <p:nvSpPr>
          <p:cNvPr id="32" name="Text 26"/>
          <p:cNvSpPr/>
          <p:nvPr/>
        </p:nvSpPr>
        <p:spPr>
          <a:xfrm>
            <a:off x="557213" y="3943517"/>
            <a:ext cx="38433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Malgré la dépendance totale, ils restent des adultes. Ils ont besoin d'être regardés, écoutés et respectés dans leur intimité et leur histoire de vie.</a:t>
            </a:r>
            <a:endParaRPr lang="en-US" sz="942" dirty="0"/>
          </a:p>
        </p:txBody>
      </p:sp>
      <p:sp>
        <p:nvSpPr>
          <p:cNvPr id="33" name="Shape 27"/>
          <p:cNvSpPr/>
          <p:nvPr/>
        </p:nvSpPr>
        <p:spPr>
          <a:xfrm>
            <a:off x="4614863" y="3052335"/>
            <a:ext cx="4100513" cy="174128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4614863" y="3052335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8708231" y="3052335"/>
            <a:ext cx="7144" cy="174128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4614863" y="4786480"/>
            <a:ext cx="41005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1"/>
          <p:cNvSpPr/>
          <p:nvPr/>
        </p:nvSpPr>
        <p:spPr>
          <a:xfrm>
            <a:off x="4614863" y="3052335"/>
            <a:ext cx="42863" cy="1741289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4743450" y="3297901"/>
            <a:ext cx="342900" cy="3429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3383626"/>
            <a:ext cx="171450" cy="17145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172075" y="3352372"/>
            <a:ext cx="15986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Présence Humaine</a:t>
            </a:r>
            <a:endParaRPr lang="en-US" sz="1193" dirty="0"/>
          </a:p>
        </p:txBody>
      </p:sp>
      <p:sp>
        <p:nvSpPr>
          <p:cNvPr id="41" name="Text 34"/>
          <p:cNvSpPr/>
          <p:nvPr/>
        </p:nvSpPr>
        <p:spPr>
          <a:xfrm>
            <a:off x="4743450" y="3943517"/>
            <a:ext cx="38433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L'angoisse monte vite dans la solitude. Une simple présence silencieuse, une main tenue ou un </a:t>
            </a:r>
            <a:r>
              <a:rPr lang="en-US" sz="942" dirty="0" err="1">
                <a:solidFill>
                  <a:srgbClr val="555555"/>
                </a:solidFill>
              </a:rPr>
              <a:t>sourire</a:t>
            </a:r>
            <a:r>
              <a:rPr lang="en-US" sz="942" dirty="0">
                <a:solidFill>
                  <a:srgbClr val="555555"/>
                </a:solidFill>
              </a:rPr>
              <a:t> </a:t>
            </a:r>
            <a:r>
              <a:rPr lang="en-US" sz="942" dirty="0" err="1">
                <a:solidFill>
                  <a:srgbClr val="555555"/>
                </a:solidFill>
              </a:rPr>
              <a:t>suffit</a:t>
            </a:r>
            <a:r>
              <a:rPr lang="en-US" sz="942" dirty="0">
                <a:solidFill>
                  <a:srgbClr val="555555"/>
                </a:solidFill>
              </a:rPr>
              <a:t> souvent à apaiser et sécuriser.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Le Rôle de l'Animateur : Que Mettre en Place ?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32197" y="1314617"/>
            <a:ext cx="1655899" cy="325041"/>
          </a:xfrm>
          <a:prstGeom prst="rect">
            <a:avLst/>
          </a:prstGeom>
          <a:solidFill>
            <a:srgbClr val="F0F8FC"/>
          </a:solidFill>
          <a:ln w="9144">
            <a:solidFill>
              <a:srgbClr val="5A9F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32197" y="1314617"/>
            <a:ext cx="1655899" cy="32504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Objectif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2088096" y="1314617"/>
            <a:ext cx="3725800" cy="325041"/>
          </a:xfrm>
          <a:prstGeom prst="rect">
            <a:avLst/>
          </a:prstGeom>
          <a:solidFill>
            <a:srgbClr val="5A9FBD"/>
          </a:solidFill>
          <a:ln w="9144">
            <a:solidFill>
              <a:srgbClr val="5A9F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088096" y="1314617"/>
            <a:ext cx="3725800" cy="32504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Actions et Activités Possibles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813896" y="1314617"/>
            <a:ext cx="2897907" cy="325041"/>
          </a:xfrm>
          <a:prstGeom prst="rect">
            <a:avLst/>
          </a:prstGeom>
          <a:solidFill>
            <a:srgbClr val="5A9FBD"/>
          </a:solidFill>
          <a:ln w="9144">
            <a:solidFill>
              <a:srgbClr val="5A9F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813896" y="1314617"/>
            <a:ext cx="2897907" cy="32504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555555"/>
                </a:solidFill>
              </a:rPr>
              <a:t>Conseils pour l'Animateur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32197" y="1632514"/>
            <a:ext cx="1655899" cy="775795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32197" y="1632514"/>
            <a:ext cx="1655899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Apaiser et Sécuriser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2305980" y="1709310"/>
            <a:ext cx="13650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Approche Snoezelen :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2303134" y="1868076"/>
            <a:ext cx="331952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Lumière douce, musique calme, chariot sensoriel.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305980" y="2112206"/>
            <a:ext cx="13116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Massage des mains :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617584" y="2112206"/>
            <a:ext cx="19464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Contact bienveillant et relaxant.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813896" y="1632514"/>
            <a:ext cx="2897907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Voix douce et posée. Gestes lents. Respectez les temps de latence. Créez une bulle de calme.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32197" y="2408309"/>
            <a:ext cx="8279606" cy="95581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32197" y="2408309"/>
            <a:ext cx="1655899" cy="955811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32197" y="2408309"/>
            <a:ext cx="1655899" cy="95581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Stimuler les Sens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2305980" y="2485104"/>
            <a:ext cx="11103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Écoute musicale :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2303134" y="2620472"/>
            <a:ext cx="2933765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Playlist personnelle (mémoire émotionnelle).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2305980" y="2888000"/>
            <a:ext cx="16486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Ateliers olfactifs/tactiles :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2303134" y="3033009"/>
            <a:ext cx="3199926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Sentir des fleurs, toucher des tissus.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813896" y="2408309"/>
            <a:ext cx="2897907" cy="95581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Une seule stimulation à la fois pour ne pas saturer. Observez les micro-réactions (sourire, détente).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432197" y="3364120"/>
            <a:ext cx="1655899" cy="775795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32197" y="3364120"/>
            <a:ext cx="1655899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Maintenir le Lien Humain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2305980" y="3440916"/>
            <a:ext cx="13796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Lecture à voix haute :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3685617" y="3440916"/>
            <a:ext cx="15348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Contes, poèmes, journal.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2305980" y="3663795"/>
            <a:ext cx="9802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Présence pure :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2303134" y="3811847"/>
            <a:ext cx="3406034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Tenir la main, être là en silence, chanter doucement.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5813896" y="3364120"/>
            <a:ext cx="2897907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Placez-vous à hauteur des yeux. Le toucher et le regard sont le premier langage quand les mots manquent.</a:t>
            </a:r>
            <a:endParaRPr lang="en-US" sz="942" dirty="0"/>
          </a:p>
        </p:txBody>
      </p:sp>
      <p:sp>
        <p:nvSpPr>
          <p:cNvPr id="34" name="Shape 31"/>
          <p:cNvSpPr/>
          <p:nvPr/>
        </p:nvSpPr>
        <p:spPr>
          <a:xfrm>
            <a:off x="432197" y="4139915"/>
            <a:ext cx="8279606" cy="69007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432197" y="4139915"/>
            <a:ext cx="1655899" cy="690070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432197" y="4139915"/>
            <a:ext cx="1655899" cy="69007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Respecter la Dignité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2303134" y="4216710"/>
            <a:ext cx="11985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Soins esthétiques :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3501721" y="4216710"/>
            <a:ext cx="22309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Coiffure, manucure, mise en beauté.</a:t>
            </a:r>
            <a:endParaRPr lang="en-US" sz="942" dirty="0"/>
          </a:p>
        </p:txBody>
      </p:sp>
      <p:sp>
        <p:nvSpPr>
          <p:cNvPr id="39" name="Text 36"/>
          <p:cNvSpPr/>
          <p:nvPr/>
        </p:nvSpPr>
        <p:spPr>
          <a:xfrm>
            <a:off x="2303134" y="4439589"/>
            <a:ext cx="15440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Valorisation de l'image :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3847216" y="4439589"/>
            <a:ext cx="16153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Miroir, vêtements soignés.</a:t>
            </a:r>
            <a:endParaRPr lang="en-US" sz="942" dirty="0"/>
          </a:p>
        </p:txBody>
      </p:sp>
      <p:sp>
        <p:nvSpPr>
          <p:cNvPr id="41" name="Text 38"/>
          <p:cNvSpPr/>
          <p:nvPr/>
        </p:nvSpPr>
        <p:spPr>
          <a:xfrm>
            <a:off x="5812668" y="4139915"/>
            <a:ext cx="2899135" cy="69007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Demandez toujours la permission avant de toucher. Valorisez la personne au-delà de la dépendance.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Erreurs à Éviter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453921"/>
            <a:ext cx="4057650" cy="144552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453921"/>
            <a:ext cx="42863" cy="1445521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1756637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8688" y="1753958"/>
            <a:ext cx="17434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Le "faire" à tout prix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57213" y="2230803"/>
            <a:ext cx="38004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L'objectif n'est plus de produire ou de réussir une activité, mais de ressentir. Ne pas forcer la participation active si la personne est fatiguée.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657725" y="1453921"/>
            <a:ext cx="4057650" cy="144552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4657725" y="1453921"/>
            <a:ext cx="42863" cy="1445521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56637"/>
            <a:ext cx="28575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7788" y="1753958"/>
            <a:ext cx="18180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Ignorer le non-verbal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4786313" y="2230803"/>
            <a:ext cx="38004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Ne pas penser qu'ils ne comprennent rien car ils ne parlent plus. Le regard, le toucher, le sourire et l'attitude corporelle disent tout.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28625" y="3070892"/>
            <a:ext cx="4057650" cy="144552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428625" y="3070892"/>
            <a:ext cx="42863" cy="1445521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3" y="3373608"/>
            <a:ext cx="28575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688" y="3370929"/>
            <a:ext cx="11831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La brusquerie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557213" y="3847774"/>
            <a:ext cx="38004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Les gestes rapides, la voix forte ou l'impatience sont perçus comme des agressions. La douceur et la lenteur sont impératives.</a:t>
            </a:r>
            <a:endParaRPr lang="en-US" sz="942" dirty="0"/>
          </a:p>
        </p:txBody>
      </p:sp>
      <p:sp>
        <p:nvSpPr>
          <p:cNvPr id="21" name="Shape 15"/>
          <p:cNvSpPr/>
          <p:nvPr/>
        </p:nvSpPr>
        <p:spPr>
          <a:xfrm>
            <a:off x="4657725" y="3070892"/>
            <a:ext cx="4057650" cy="144552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4657725" y="3070892"/>
            <a:ext cx="42863" cy="1445521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373608"/>
            <a:ext cx="28575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57788" y="3370929"/>
            <a:ext cx="18016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L'isolement sensoriel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4786313" y="3847774"/>
            <a:ext cx="38004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Laisser une personne sans stimulation (visuelle, auditive, tactile) augmente l'angoisse et le repli. Maintenir une présence.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687</Words>
  <Application>Microsoft Macintosh PowerPoint</Application>
  <PresentationFormat>Affichage à l'écran (16:9)</PresentationFormat>
  <Paragraphs>86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Mourad LAFKI</cp:lastModifiedBy>
  <cp:revision>1</cp:revision>
  <dcterms:created xsi:type="dcterms:W3CDTF">2026-02-09T15:56:38Z</dcterms:created>
  <dcterms:modified xsi:type="dcterms:W3CDTF">2026-02-09T18:22:55Z</dcterms:modified>
</cp:coreProperties>
</file>